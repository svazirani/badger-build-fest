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7" d="100"/>
          <a:sy n="77" d="100"/>
        </p:scale>
        <p:origin x="883"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hith NIKESH" userId="6995b914-efd0-4caf-bd7c-4ebbe5774cdd" providerId="ADAL" clId="{CBBEF882-39B9-4EE8-AF05-C3ADC2128B62}"/>
    <pc:docChg chg="modSld">
      <pc:chgData name="Mohith NIKESH" userId="6995b914-efd0-4caf-bd7c-4ebbe5774cdd" providerId="ADAL" clId="{CBBEF882-39B9-4EE8-AF05-C3ADC2128B62}" dt="2026-09-27T12:23:00.800" v="24" actId="20577"/>
      <pc:docMkLst>
        <pc:docMk/>
      </pc:docMkLst>
      <pc:sldChg chg="modSp mod">
        <pc:chgData name="Mohith NIKESH" userId="6995b914-efd0-4caf-bd7c-4ebbe5774cdd" providerId="ADAL" clId="{CBBEF882-39B9-4EE8-AF05-C3ADC2128B62}" dt="2026-09-27T12:23:00.800" v="24" actId="20577"/>
        <pc:sldMkLst>
          <pc:docMk/>
          <pc:sldMk cId="1543997009" sldId="262"/>
        </pc:sldMkLst>
        <pc:spChg chg="mod">
          <ac:chgData name="Mohith NIKESH" userId="6995b914-efd0-4caf-bd7c-4ebbe5774cdd" providerId="ADAL" clId="{CBBEF882-39B9-4EE8-AF05-C3ADC2128B62}" dt="2026-09-27T12:23:00.800" v="24" actId="20577"/>
          <ac:spMkLst>
            <pc:docMk/>
            <pc:sldMk cId="1543997009" sldId="262"/>
            <ac:spMk id="22" creationId="{A8DEF2E8-50FD-4A2F-A2B0-F792E3DE2F9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0:00–0:05. Say: Assay helps managers decide which AI model to use and when an agent can act without approval. Pitch structure adapted from Pouya Mirzaei, How to Make a Winning 2-Minute Pitch.pdf, pages 4, 6, 7, 9 and 10. Timings are targets; rehearse with the live demo.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0:05–0:15. Say: The AI agents market is forecast to grow from about $8 billion to $53 billion, but Gartner predicts over 40% of agentic projects will be canceled by 2027 because of cost, value or risk. Both numbers are forecasts, not observed failures. The total agent market is context, not an estimate of Assay revenue or its addressable market. Sources: https://www.marketsandmarkets.com/Market-Reports/ai-agents-market-15761548.html ; https://www.gartner.com/en/newsroom/press-releases/2025-06-25-gartner-predicts-over-40-percent-of-agentic-ai-projects-will-be-canceled-by-end-of-2027 . Pitch structure adapted from Pouya Mirzaei, How to Make a Winning 2-Minute Pitch.pdf, pages 4, 6, 7, 9 and 10. Timings are targets; rehearse with the live demo.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0:15–0:25. Say: A manager receives an AI suggestion. Checking everything takes time, but confidence is unreliable. In our evaluation, 77% of checkable answers rated at least 95% confident were wrong. Assay makes the approval decision from evidence. 1,793 of 2,321 pooled high-confidence checkable answers; not the error rate for all answers or the chosen primary. Source: docs/FINAL_HANDOFF.md sections 4.1 and 4.4. Pitch structure adapted from Pouya Mirzaei, How to Make a Winning 2-Minute Pitch.pdf, pages 4, 6, 7, 9 and 10. Timings are targets; rehearse with the live demo.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0:25–0:55. Switch to the live dashboard or a recorded demo. Show the version-upgrade ticket template. The cheap model suggests a duplicate; Assay catches a proven mistake. Then show an uncertain suggestion in the review queue, point to prior evidence, and show the Yes/No decision. Demo tickets stay in the sandbox. A screenshot is a fallback, not a substitute for showing actual product behavior. Outcomes may vary. Source: user-supplied review screenshot and docs/FINAL_HANDOFF.md demo guidance. Pitch structure adapted from Pouya Mirzaei, How to Make a Winning 2-Minute Pitch.pdf, pages 4, 6, 7, 9 and 10. Timings are targets; rehearse with the live demo.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0:55–1:15. During the demo, show model choice in the dashboard. The primary balances cost and checked quality, and the backup is more precise but more expensive. No model earned general autonomy. The graph is a visual annotation of a dashboard snapshot. Shading is neither a confidence interval nor a new safety classification; the autonomy rule requires a statistical lower bound. The snapshot shows 59%, while the final static report says 58%. Sources: supplied screenshot; docs/FINAL_HANDOFF.md sections 4.3 and 4.6. Pitch structure adapted from Pouya Mirzaei, How to Make a Winning 2-Minute Pitch.pdf, pages 4, 6, 7, 9 and 10. Timings are targets; rehearse with the live demo.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1:15–1:25. Show the cost dashboard: $4.36 estimated evaluation compute cost, actual Free Edition spend $0. The $355 projection assumes one million tickets, not realized savings. 1:25–1:38. Explain differentiation: Assay checks real outcomes and only automates narrow proven patterns; evidence can revoke automation. We evaluated 8 models and checked 5,125 answers. Keep the data on screen while speaking. Avoid claiming no competitor has solved this. The static report says 57% savings and the screenshot says 58%; describe approximately 58%, not false exact agreement. Source: supplied screenshot and docs/FINAL_HANDOFF.md. Pitch structure adapted from Pouya Mirzaei, How to Make a Winning 2-Minute Pitch.pdf, pages 4, 6, 7, 9 and 10. Timings are targets; rehearse with the live demo.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1:38–1:50. Say: We are Ananda, Mohith and Soham. We built and tested the workflow end to end, combining the agent, statistical decisions and a manager dashboard. Cite demonstrated work rather than invented industry experience or customer validation. 1:50–2:00. Say: Next, we plan to close the security gaps, connect more agents and pilot with a team using real review decisions. We are looking for that pilot team and a Databricks mentor. These are proposed next steps, not completed work. Six security weaknesses remain open. Source: team credits and project limitations in README.md; pitch guide page 10. Pitch structure adapted from Pouya Mirzaei, How to Make a Winning 2-Minute Pitch.pdf, pages 4, 6, 7, 9 and 10. Timings are targets; rehearse with the live demo.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a:spcBef>
          <a:spcPct val="0"/>
        </a:spcBef>
        <a:buNone/>
        <a:defRPr sz="4400" kern="1200">
          <a:solidFill>
            <a:schemeClr val="tx1"/>
          </a:solidFill>
          <a:latin typeface="+mj-lt"/>
          <a:ea typeface="+mj-lt"/>
          <a:cs typeface="+mj-lt"/>
        </a:defRPr>
      </a:lvl1pPr>
    </p:titleStyle>
    <p:bodyStyle>
      <a:lvl1pPr marL="342900" indent="-342900" algn="l" defTabSz="914400">
        <a:spcBef>
          <a:spcPct val="20000"/>
        </a:spcBef>
        <a:buFont typeface="Arial"/>
        <a:buChar char="•"/>
        <a:defRPr sz="3200" kern="1200">
          <a:solidFill>
            <a:schemeClr val="tx1"/>
          </a:solidFill>
          <a:latin typeface="+mn-lt"/>
          <a:ea typeface="+mn-lt"/>
          <a:cs typeface="+mn-lt"/>
        </a:defRPr>
      </a:lvl1pPr>
      <a:lvl2pPr marL="742950" indent="-285750" algn="l" defTabSz="914400">
        <a:spcBef>
          <a:spcPct val="20000"/>
        </a:spcBef>
        <a:buFont typeface="Arial"/>
        <a:buChar char="–"/>
        <a:defRPr sz="2800" kern="1200">
          <a:solidFill>
            <a:schemeClr val="tx1"/>
          </a:solidFill>
          <a:latin typeface="+mn-lt"/>
          <a:ea typeface="+mn-lt"/>
          <a:cs typeface="+mn-lt"/>
        </a:defRPr>
      </a:lvl2pPr>
      <a:lvl3pPr marL="1143000" indent="-228600" algn="l" defTabSz="914400">
        <a:spcBef>
          <a:spcPct val="20000"/>
        </a:spcBef>
        <a:buFont typeface="Arial"/>
        <a:buChar char="•"/>
        <a:defRPr sz="2400" kern="1200">
          <a:solidFill>
            <a:schemeClr val="tx1"/>
          </a:solidFill>
          <a:latin typeface="+mn-lt"/>
          <a:ea typeface="+mn-lt"/>
          <a:cs typeface="+mn-lt"/>
        </a:defRPr>
      </a:lvl3pPr>
      <a:lvl4pPr marL="1600200" indent="-228600" algn="l" defTabSz="914400">
        <a:spcBef>
          <a:spcPct val="20000"/>
        </a:spcBef>
        <a:buFont typeface="Arial"/>
        <a:buChar char="–"/>
        <a:defRPr sz="2000" kern="1200">
          <a:solidFill>
            <a:schemeClr val="tx1"/>
          </a:solidFill>
          <a:latin typeface="+mn-lt"/>
          <a:ea typeface="+mn-lt"/>
          <a:cs typeface="+mn-lt"/>
        </a:defRPr>
      </a:lvl4pPr>
      <a:lvl5pPr marL="2057400" indent="-228600" algn="l" defTabSz="914400">
        <a:spcBef>
          <a:spcPct val="20000"/>
        </a:spcBef>
        <a:buFont typeface="Arial"/>
        <a:buChar char="»"/>
        <a:defRPr sz="2000" kern="1200">
          <a:solidFill>
            <a:schemeClr val="tx1"/>
          </a:solidFill>
          <a:latin typeface="+mn-lt"/>
          <a:ea typeface="+mn-lt"/>
          <a:cs typeface="+mn-lt"/>
        </a:defRPr>
      </a:lvl5pPr>
      <a:lvl6pPr marL="2514600" indent="-228600" algn="l" defTabSz="914400">
        <a:spcBef>
          <a:spcPct val="20000"/>
        </a:spcBef>
        <a:buFont typeface="Arial"/>
        <a:buChar char="•"/>
        <a:defRPr sz="2000" kern="1200">
          <a:solidFill>
            <a:schemeClr val="tx1"/>
          </a:solidFill>
          <a:latin typeface="+mn-lt"/>
          <a:ea typeface="+mn-lt"/>
          <a:cs typeface="+mn-lt"/>
        </a:defRPr>
      </a:lvl6pPr>
      <a:lvl7pPr marL="2971800" indent="-228600" algn="l" defTabSz="914400">
        <a:spcBef>
          <a:spcPct val="20000"/>
        </a:spcBef>
        <a:buFont typeface="Arial"/>
        <a:buChar char="•"/>
        <a:defRPr sz="2000" kern="1200">
          <a:solidFill>
            <a:schemeClr val="tx1"/>
          </a:solidFill>
          <a:latin typeface="+mn-lt"/>
          <a:ea typeface="+mn-lt"/>
          <a:cs typeface="+mn-lt"/>
        </a:defRPr>
      </a:lvl7pPr>
      <a:lvl8pPr marL="3429000" indent="-228600" algn="l" defTabSz="914400">
        <a:spcBef>
          <a:spcPct val="20000"/>
        </a:spcBef>
        <a:buFont typeface="Arial"/>
        <a:buChar char="•"/>
        <a:defRPr sz="2000" kern="1200">
          <a:solidFill>
            <a:schemeClr val="tx1"/>
          </a:solidFill>
          <a:latin typeface="+mn-lt"/>
          <a:ea typeface="+mn-lt"/>
          <a:cs typeface="+mn-lt"/>
        </a:defRPr>
      </a:lvl8pPr>
      <a:lvl9pPr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1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9.png"/><Relationship Id="rId4" Type="http://schemas.openxmlformats.org/officeDocument/2006/relationships/hyperlink" Target="https://github.com/Ananda-001/Badger-Build-Fest"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B00F45CA-777E-48AD-A0E6-71D92C80BDB2}"/>
              </a:ext>
            </a:extLst>
          </p:cNvPr>
          <p:cNvSpPr>
            <a:spLocks noGrp="1"/>
          </p:cNvSpPr>
          <p:nvPr/>
        </p:nvSpPr>
        <p:spPr>
          <a:xfrm>
            <a:off x="640080" y="685800"/>
            <a:ext cx="10911535" cy="274320"/>
          </a:xfrm>
          <a:prstGeom prst="rect">
            <a:avLst/>
          </a:prstGeom>
          <a:noFill/>
        </p:spPr>
        <p:txBody>
          <a:bodyPr wrap="square" lIns="0" tIns="0" rIns="0" bIns="0" anchor="t"/>
          <a:lstStyle/>
          <a:p>
            <a:pPr marL="0" indent="0">
              <a:buNone/>
            </a:pPr>
            <a:r>
              <a:rPr sz="1200" b="1" spc="150">
                <a:solidFill>
                  <a:srgbClr val="3A5BA0"/>
                </a:solidFill>
                <a:latin typeface="Arial"/>
                <a:ea typeface="Arial"/>
                <a:cs typeface="Arial"/>
              </a:rPr>
              <a:t>BADGER BUILDFEST 2026 · APPLIED AI &amp; AUTOMATION</a:t>
            </a:r>
            <a:endParaRPr sz="1200"/>
          </a:p>
        </p:txBody>
      </p:sp>
      <p:sp>
        <p:nvSpPr>
          <p:cNvPr id="6" name="Text 3">
            <a:extLst>
              <a:ext uri="{FF2B5EF4-FFF2-40B4-BE49-F238E27FC236}">
                <a16:creationId xmlns:a16="http://schemas.microsoft.com/office/drawing/2014/main" id="{D14603C6-5DCB-47A7-BAB3-64AA2A6591B1}"/>
              </a:ext>
            </a:extLst>
          </p:cNvPr>
          <p:cNvSpPr>
            <a:spLocks noGrp="1"/>
          </p:cNvSpPr>
          <p:nvPr/>
        </p:nvSpPr>
        <p:spPr>
          <a:xfrm>
            <a:off x="640080" y="4023360"/>
            <a:ext cx="9144000" cy="502920"/>
          </a:xfrm>
          <a:prstGeom prst="rect">
            <a:avLst/>
          </a:prstGeom>
          <a:noFill/>
        </p:spPr>
        <p:txBody>
          <a:bodyPr wrap="square" lIns="0" tIns="0" rIns="0" bIns="0" anchor="t"/>
          <a:lstStyle/>
          <a:p>
            <a:pPr marL="0" indent="0">
              <a:buNone/>
            </a:pPr>
            <a:r>
              <a:rPr sz="2800">
                <a:solidFill>
                  <a:srgbClr val="14232A"/>
                </a:solidFill>
                <a:latin typeface="Arial"/>
                <a:ea typeface="Arial"/>
                <a:cs typeface="Arial"/>
              </a:rPr>
              <a:t>The manager for your AI agents</a:t>
            </a:r>
            <a:endParaRPr sz="2800"/>
          </a:p>
        </p:txBody>
      </p:sp>
      <p:sp>
        <p:nvSpPr>
          <p:cNvPr id="7" name="Text 4">
            <a:extLst>
              <a:ext uri="{FF2B5EF4-FFF2-40B4-BE49-F238E27FC236}">
                <a16:creationId xmlns:a16="http://schemas.microsoft.com/office/drawing/2014/main" id="{CE983972-19C4-4D46-8A88-7ED4B8422F68}"/>
              </a:ext>
            </a:extLst>
          </p:cNvPr>
          <p:cNvSpPr>
            <a:spLocks noGrp="1"/>
          </p:cNvSpPr>
          <p:nvPr/>
        </p:nvSpPr>
        <p:spPr>
          <a:xfrm>
            <a:off x="640080" y="4617720"/>
            <a:ext cx="9144000" cy="411480"/>
          </a:xfrm>
          <a:prstGeom prst="rect">
            <a:avLst/>
          </a:prstGeom>
          <a:noFill/>
        </p:spPr>
        <p:txBody>
          <a:bodyPr wrap="square" lIns="0" tIns="0" rIns="0" bIns="0" anchor="t"/>
          <a:lstStyle/>
          <a:p>
            <a:pPr marL="0" indent="0">
              <a:buNone/>
            </a:pPr>
            <a:r>
              <a:rPr sz="1800">
                <a:solidFill>
                  <a:srgbClr val="4A5A5E"/>
                </a:solidFill>
                <a:latin typeface="Arial"/>
                <a:ea typeface="Arial"/>
                <a:cs typeface="Arial"/>
              </a:rPr>
              <a:t>Agents earn their freedom with evidence</a:t>
            </a:r>
            <a:endParaRPr sz="1800"/>
          </a:p>
        </p:txBody>
      </p:sp>
      <p:sp>
        <p:nvSpPr>
          <p:cNvPr id="8" name="Text 5">
            <a:extLst>
              <a:ext uri="{FF2B5EF4-FFF2-40B4-BE49-F238E27FC236}">
                <a16:creationId xmlns:a16="http://schemas.microsoft.com/office/drawing/2014/main" id="{86815C7C-8EF6-463F-A2CD-6BFEE7C5C008}"/>
              </a:ext>
            </a:extLst>
          </p:cNvPr>
          <p:cNvSpPr>
            <a:spLocks noGrp="1"/>
          </p:cNvSpPr>
          <p:nvPr/>
        </p:nvSpPr>
        <p:spPr>
          <a:xfrm>
            <a:off x="640080" y="6035040"/>
            <a:ext cx="10911535" cy="320040"/>
          </a:xfrm>
          <a:prstGeom prst="rect">
            <a:avLst/>
          </a:prstGeom>
          <a:noFill/>
        </p:spPr>
        <p:txBody>
          <a:bodyPr wrap="square" lIns="0" tIns="0" rIns="0" bIns="0" anchor="t"/>
          <a:lstStyle/>
          <a:p>
            <a:pPr marL="0" indent="0">
              <a:buNone/>
            </a:pPr>
            <a:r>
              <a:rPr sz="1400">
                <a:solidFill>
                  <a:srgbClr val="4A5A5E"/>
                </a:solidFill>
                <a:latin typeface="Arial"/>
                <a:ea typeface="Arial"/>
                <a:cs typeface="Arial"/>
              </a:rPr>
              <a:t>Built on Databricks</a:t>
            </a:r>
            <a:endParaRPr sz="1400"/>
          </a:p>
        </p:txBody>
      </p:sp>
      <p:pic>
        <p:nvPicPr>
          <p:cNvPr id="9" name="Assay logo" descr="Assay logo: a blue A with a checkmark, and the word Assay"/>
          <p:cNvPicPr>
            <a:picLocks noChangeAspect="1"/>
          </p:cNvPicPr>
          <p:nvPr/>
        </p:nvPicPr>
        <p:blipFill>
          <a:blip r:embed="rId4"/>
          <a:stretch>
            <a:fillRect/>
          </a:stretch>
        </p:blipFill>
        <p:spPr>
          <a:xfrm>
            <a:off x="635000" y="2260600"/>
            <a:ext cx="5588000" cy="1539804"/>
          </a:xfrm>
          <a:prstGeom prst="rect">
            <a:avLst/>
          </a:prstGeom>
        </p:spPr>
      </p:pic>
    </p:spTree>
    <p:extLst>
      <p:ext uri="{BB962C8B-B14F-4D97-AF65-F5344CB8AC3E}">
        <p14:creationId xmlns:p14="http://schemas.microsoft.com/office/powerpoint/2010/main" val="1942105402"/>
      </p:ext>
    </p:extLst>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A699480-ECD9-4635-B650-B40E72CDF544}"/>
              </a:ext>
            </a:extLst>
          </p:cNvPr>
          <p:cNvSpPr>
            <a:spLocks noGrp="1"/>
          </p:cNvSpPr>
          <p:nvPr/>
        </p:nvSpPr>
        <p:spPr>
          <a:xfrm>
            <a:off x="640080" y="502920"/>
            <a:ext cx="10881360" cy="731520"/>
          </a:xfrm>
          <a:prstGeom prst="rect">
            <a:avLst/>
          </a:prstGeom>
          <a:noFill/>
        </p:spPr>
        <p:txBody>
          <a:bodyPr wrap="square" lIns="0" tIns="0" rIns="0" bIns="0" anchor="t">
            <a:spAutoFit/>
          </a:bodyPr>
          <a:lstStyle/>
          <a:p>
            <a:pPr algn="l">
              <a:lnSpc>
                <a:spcPct val="105000"/>
              </a:lnSpc>
              <a:buNone/>
              <a:defRPr>
                <a:latin typeface="Arial"/>
                <a:ea typeface="Arial"/>
                <a:cs typeface="Arial"/>
              </a:defRPr>
            </a:pPr>
            <a:r>
              <a:rPr sz="3400" b="1" i="0">
                <a:solidFill>
                  <a:srgbClr val="17262B"/>
                </a:solidFill>
                <a:latin typeface="Arial"/>
                <a:ea typeface="Arial"/>
                <a:cs typeface="Arial"/>
              </a:rPr>
              <a:t>AI agents are growing. The risks are growing too.</a:t>
            </a:r>
          </a:p>
        </p:txBody>
      </p:sp>
      <p:sp>
        <p:nvSpPr>
          <p:cNvPr id="3" name="TextBox 2">
            <a:extLst>
              <a:ext uri="{FF2B5EF4-FFF2-40B4-BE49-F238E27FC236}">
                <a16:creationId xmlns:a16="http://schemas.microsoft.com/office/drawing/2014/main" id="{55478C46-1CC8-4428-BA46-FF53D9417EE4}"/>
              </a:ext>
            </a:extLst>
          </p:cNvPr>
          <p:cNvSpPr>
            <a:spLocks noGrp="1"/>
          </p:cNvSpPr>
          <p:nvPr/>
        </p:nvSpPr>
        <p:spPr>
          <a:xfrm>
            <a:off x="640080" y="1216152"/>
            <a:ext cx="10881360" cy="457200"/>
          </a:xfrm>
          <a:prstGeom prst="rect">
            <a:avLst/>
          </a:prstGeom>
          <a:noFill/>
        </p:spPr>
        <p:txBody>
          <a:bodyPr wrap="square" lIns="0" tIns="0" rIns="0" bIns="0" anchor="t">
            <a:spAutoFit/>
          </a:bodyPr>
          <a:lstStyle/>
          <a:p>
            <a:pPr algn="l">
              <a:lnSpc>
                <a:spcPct val="105000"/>
              </a:lnSpc>
              <a:buNone/>
              <a:defRPr>
                <a:latin typeface="Arial"/>
                <a:ea typeface="Arial"/>
                <a:cs typeface="Arial"/>
              </a:defRPr>
            </a:pPr>
            <a:r>
              <a:rPr sz="1600" b="0" i="0">
                <a:solidFill>
                  <a:srgbClr val="4A5A5E"/>
                </a:solidFill>
                <a:latin typeface="Arial"/>
                <a:ea typeface="Arial"/>
                <a:cs typeface="Arial"/>
              </a:rPr>
              <a:t>Teams need evidence before they spend more or allow agents to act alone.</a:t>
            </a:r>
          </a:p>
        </p:txBody>
      </p:sp>
      <p:sp>
        <p:nvSpPr>
          <p:cNvPr id="4" name="Rounded Rectangle 3">
            <a:extLst>
              <a:ext uri="{FF2B5EF4-FFF2-40B4-BE49-F238E27FC236}">
                <a16:creationId xmlns:a16="http://schemas.microsoft.com/office/drawing/2014/main" id="{8D6F8D4C-A59B-4FE7-ACD4-7D15E3A08514}"/>
              </a:ext>
            </a:extLst>
          </p:cNvPr>
          <p:cNvSpPr>
            <a:spLocks noGrp="1"/>
          </p:cNvSpPr>
          <p:nvPr/>
        </p:nvSpPr>
        <p:spPr>
          <a:xfrm>
            <a:off x="640080" y="2011680"/>
            <a:ext cx="5257800" cy="3200400"/>
          </a:xfrm>
          <a:prstGeom prst="roundRect">
            <a:avLst>
              <a:gd name="adj" fmla="val 6000"/>
            </a:avLst>
          </a:prstGeom>
          <a:solidFill>
            <a:srgbClr val="F3F5F1"/>
          </a:solidFill>
          <a:ln>
            <a:noFill/>
          </a:ln>
        </p:spPr>
        <p:style>
          <a:lnRef idx="1">
            <a:schemeClr val="accent1"/>
          </a:lnRef>
          <a:fillRef idx="3">
            <a:schemeClr val="accent1"/>
          </a:fillRef>
          <a:effectRef idx="2">
            <a:schemeClr val="accent1"/>
          </a:effectRef>
          <a:fontRef idx="minor">
            <a:schemeClr val="lt1"/>
          </a:fontRef>
        </p:style>
        <p:txBody>
          <a:bodyPr anchor="ctr"/>
          <a:lstStyle/>
          <a:p>
            <a:endParaRPr/>
          </a:p>
        </p:txBody>
      </p:sp>
      <p:sp>
        <p:nvSpPr>
          <p:cNvPr id="5" name="TextBox 4">
            <a:extLst>
              <a:ext uri="{FF2B5EF4-FFF2-40B4-BE49-F238E27FC236}">
                <a16:creationId xmlns:a16="http://schemas.microsoft.com/office/drawing/2014/main" id="{BA18BB74-6869-4057-95D6-86728452B5D6}"/>
              </a:ext>
            </a:extLst>
          </p:cNvPr>
          <p:cNvSpPr>
            <a:spLocks noGrp="1"/>
          </p:cNvSpPr>
          <p:nvPr/>
        </p:nvSpPr>
        <p:spPr>
          <a:xfrm>
            <a:off x="1005840" y="2377440"/>
            <a:ext cx="4663440" cy="822960"/>
          </a:xfrm>
          <a:prstGeom prst="rect">
            <a:avLst/>
          </a:prstGeom>
          <a:noFill/>
        </p:spPr>
        <p:txBody>
          <a:bodyPr wrap="square" lIns="0" tIns="0" rIns="0" bIns="0" anchor="t">
            <a:spAutoFit/>
          </a:bodyPr>
          <a:lstStyle/>
          <a:p>
            <a:pPr algn="l">
              <a:lnSpc>
                <a:spcPct val="105000"/>
              </a:lnSpc>
              <a:buNone/>
              <a:defRPr>
                <a:latin typeface="Arial"/>
                <a:ea typeface="Arial"/>
                <a:cs typeface="Arial"/>
              </a:defRPr>
            </a:pPr>
            <a:r>
              <a:rPr sz="4000" b="1" i="0">
                <a:solidFill>
                  <a:srgbClr val="17262B"/>
                </a:solidFill>
                <a:latin typeface="Arial"/>
                <a:ea typeface="Arial"/>
                <a:cs typeface="Arial"/>
              </a:rPr>
              <a:t>$7.8B to $52.6B</a:t>
            </a:r>
          </a:p>
        </p:txBody>
      </p:sp>
      <p:sp>
        <p:nvSpPr>
          <p:cNvPr id="6" name="TextBox 5">
            <a:extLst>
              <a:ext uri="{FF2B5EF4-FFF2-40B4-BE49-F238E27FC236}">
                <a16:creationId xmlns:a16="http://schemas.microsoft.com/office/drawing/2014/main" id="{1E8A1ED8-D08E-48D8-972C-BEF0BACC1C5B}"/>
              </a:ext>
            </a:extLst>
          </p:cNvPr>
          <p:cNvSpPr>
            <a:spLocks noGrp="1"/>
          </p:cNvSpPr>
          <p:nvPr/>
        </p:nvSpPr>
        <p:spPr>
          <a:xfrm>
            <a:off x="1005840" y="3291840"/>
            <a:ext cx="4476750" cy="952500"/>
          </a:xfrm>
          <a:prstGeom prst="rect">
            <a:avLst/>
          </a:prstGeom>
          <a:noFill/>
        </p:spPr>
        <p:txBody>
          <a:bodyPr wrap="square" lIns="0" tIns="0" rIns="0" bIns="0" anchor="t">
            <a:spAutoFit/>
          </a:bodyPr>
          <a:lstStyle/>
          <a:p>
            <a:pPr algn="l">
              <a:lnSpc>
                <a:spcPct val="105000"/>
              </a:lnSpc>
              <a:buNone/>
              <a:defRPr>
                <a:latin typeface="Arial"/>
                <a:ea typeface="Arial"/>
                <a:cs typeface="Arial"/>
              </a:defRPr>
            </a:pPr>
            <a:r>
              <a:rPr sz="1800" b="0" i="0">
                <a:solidFill>
                  <a:srgbClr val="4A5A5E"/>
                </a:solidFill>
                <a:latin typeface="Arial"/>
                <a:ea typeface="Arial"/>
                <a:cs typeface="Arial"/>
              </a:rPr>
              <a:t>AI agents market estimate for 2025 and forecast for 2030</a:t>
            </a:r>
          </a:p>
        </p:txBody>
      </p:sp>
      <p:sp>
        <p:nvSpPr>
          <p:cNvPr id="7" name="TextBox 6">
            <a:extLst>
              <a:ext uri="{FF2B5EF4-FFF2-40B4-BE49-F238E27FC236}">
                <a16:creationId xmlns:a16="http://schemas.microsoft.com/office/drawing/2014/main" id="{43A218F9-5C27-4873-BE18-94C4698C0A21}"/>
              </a:ext>
            </a:extLst>
          </p:cNvPr>
          <p:cNvSpPr>
            <a:spLocks noGrp="1"/>
          </p:cNvSpPr>
          <p:nvPr/>
        </p:nvSpPr>
        <p:spPr>
          <a:xfrm>
            <a:off x="1005840" y="4663440"/>
            <a:ext cx="4572000" cy="365760"/>
          </a:xfrm>
          <a:prstGeom prst="rect">
            <a:avLst/>
          </a:prstGeom>
          <a:noFill/>
        </p:spPr>
        <p:txBody>
          <a:bodyPr wrap="square" lIns="0" tIns="0" rIns="0" bIns="0" anchor="t">
            <a:spAutoFit/>
          </a:bodyPr>
          <a:lstStyle/>
          <a:p>
            <a:pPr algn="l">
              <a:lnSpc>
                <a:spcPct val="105000"/>
              </a:lnSpc>
              <a:buNone/>
              <a:defRPr>
                <a:latin typeface="Arial"/>
                <a:ea typeface="Arial"/>
                <a:cs typeface="Arial"/>
              </a:defRPr>
            </a:pPr>
            <a:r>
              <a:rPr sz="1100" b="0" i="0">
                <a:solidFill>
                  <a:srgbClr val="7A888B"/>
                </a:solidFill>
                <a:latin typeface="Arial"/>
                <a:ea typeface="Arial"/>
                <a:cs typeface="Arial"/>
              </a:rPr>
              <a:t>MarketsandMarkets, AI Agents Market report</a:t>
            </a:r>
          </a:p>
        </p:txBody>
      </p:sp>
      <p:sp>
        <p:nvSpPr>
          <p:cNvPr id="8" name="Rounded Rectangle 7">
            <a:extLst>
              <a:ext uri="{FF2B5EF4-FFF2-40B4-BE49-F238E27FC236}">
                <a16:creationId xmlns:a16="http://schemas.microsoft.com/office/drawing/2014/main" id="{E46625C9-9A1A-4745-9791-4AD585279095}"/>
              </a:ext>
            </a:extLst>
          </p:cNvPr>
          <p:cNvSpPr>
            <a:spLocks noGrp="1"/>
          </p:cNvSpPr>
          <p:nvPr/>
        </p:nvSpPr>
        <p:spPr>
          <a:xfrm>
            <a:off x="6309360" y="2011680"/>
            <a:ext cx="5257800" cy="3200400"/>
          </a:xfrm>
          <a:prstGeom prst="roundRect">
            <a:avLst>
              <a:gd name="adj" fmla="val 6000"/>
            </a:avLst>
          </a:prstGeom>
          <a:solidFill>
            <a:srgbClr val="F8E0DB"/>
          </a:solidFill>
          <a:ln>
            <a:noFill/>
          </a:ln>
        </p:spPr>
        <p:style>
          <a:lnRef idx="1">
            <a:schemeClr val="accent1"/>
          </a:lnRef>
          <a:fillRef idx="3">
            <a:schemeClr val="accent1"/>
          </a:fillRef>
          <a:effectRef idx="2">
            <a:schemeClr val="accent1"/>
          </a:effectRef>
          <a:fontRef idx="minor">
            <a:schemeClr val="lt1"/>
          </a:fontRef>
        </p:style>
        <p:txBody>
          <a:bodyPr anchor="ctr"/>
          <a:lstStyle/>
          <a:p>
            <a:endParaRPr/>
          </a:p>
        </p:txBody>
      </p:sp>
      <p:sp>
        <p:nvSpPr>
          <p:cNvPr id="9" name="TextBox 8">
            <a:extLst>
              <a:ext uri="{FF2B5EF4-FFF2-40B4-BE49-F238E27FC236}">
                <a16:creationId xmlns:a16="http://schemas.microsoft.com/office/drawing/2014/main" id="{B164BB00-EC10-42BE-ACE5-D8FA33C31835}"/>
              </a:ext>
            </a:extLst>
          </p:cNvPr>
          <p:cNvSpPr>
            <a:spLocks noGrp="1"/>
          </p:cNvSpPr>
          <p:nvPr/>
        </p:nvSpPr>
        <p:spPr>
          <a:xfrm>
            <a:off x="6675120" y="2240280"/>
            <a:ext cx="4663440" cy="1152144"/>
          </a:xfrm>
          <a:prstGeom prst="rect">
            <a:avLst/>
          </a:prstGeom>
          <a:noFill/>
        </p:spPr>
        <p:txBody>
          <a:bodyPr wrap="square" lIns="0" tIns="0" rIns="0" bIns="0" anchor="t">
            <a:spAutoFit/>
          </a:bodyPr>
          <a:lstStyle/>
          <a:p>
            <a:pPr algn="l">
              <a:lnSpc>
                <a:spcPct val="105000"/>
              </a:lnSpc>
              <a:buNone/>
              <a:defRPr>
                <a:latin typeface="Arial"/>
                <a:ea typeface="Arial"/>
                <a:cs typeface="Arial"/>
              </a:defRPr>
            </a:pPr>
            <a:r>
              <a:rPr sz="7200" b="1" i="0">
                <a:solidFill>
                  <a:srgbClr val="B23A27"/>
                </a:solidFill>
                <a:latin typeface="Arial"/>
                <a:ea typeface="Arial"/>
                <a:cs typeface="Arial"/>
              </a:rPr>
              <a:t>40%+</a:t>
            </a:r>
          </a:p>
        </p:txBody>
      </p:sp>
      <p:sp>
        <p:nvSpPr>
          <p:cNvPr id="10" name="TextBox 9">
            <a:extLst>
              <a:ext uri="{FF2B5EF4-FFF2-40B4-BE49-F238E27FC236}">
                <a16:creationId xmlns:a16="http://schemas.microsoft.com/office/drawing/2014/main" id="{6FA0972E-DCCE-44DD-AE1A-E8A2476455BF}"/>
              </a:ext>
            </a:extLst>
          </p:cNvPr>
          <p:cNvSpPr>
            <a:spLocks noGrp="1"/>
          </p:cNvSpPr>
          <p:nvPr/>
        </p:nvSpPr>
        <p:spPr>
          <a:xfrm>
            <a:off x="6675120" y="3291840"/>
            <a:ext cx="4572000" cy="1333500"/>
          </a:xfrm>
          <a:prstGeom prst="rect">
            <a:avLst/>
          </a:prstGeom>
          <a:noFill/>
        </p:spPr>
        <p:txBody>
          <a:bodyPr wrap="square" lIns="0" tIns="0" rIns="0" bIns="0" anchor="t">
            <a:spAutoFit/>
          </a:bodyPr>
          <a:lstStyle/>
          <a:p>
            <a:pPr algn="l">
              <a:lnSpc>
                <a:spcPct val="105000"/>
              </a:lnSpc>
              <a:buNone/>
              <a:defRPr>
                <a:latin typeface="Arial"/>
                <a:ea typeface="Arial"/>
                <a:cs typeface="Arial"/>
              </a:defRPr>
            </a:pPr>
            <a:r>
              <a:rPr sz="1800" b="0" i="0">
                <a:solidFill>
                  <a:srgbClr val="17262B"/>
                </a:solidFill>
                <a:latin typeface="Arial"/>
                <a:ea typeface="Arial"/>
                <a:cs typeface="Arial"/>
              </a:rPr>
              <a:t>Gartner predicts cancellation by the end of 2027, citing cost, unclear value and weak risk controls.</a:t>
            </a:r>
          </a:p>
        </p:txBody>
      </p:sp>
      <p:sp>
        <p:nvSpPr>
          <p:cNvPr id="11" name="TextBox 10">
            <a:extLst>
              <a:ext uri="{FF2B5EF4-FFF2-40B4-BE49-F238E27FC236}">
                <a16:creationId xmlns:a16="http://schemas.microsoft.com/office/drawing/2014/main" id="{978A2BD6-5FFB-4008-8745-C8D01D8A9E60}"/>
              </a:ext>
            </a:extLst>
          </p:cNvPr>
          <p:cNvSpPr>
            <a:spLocks noGrp="1"/>
          </p:cNvSpPr>
          <p:nvPr/>
        </p:nvSpPr>
        <p:spPr>
          <a:xfrm>
            <a:off x="6675120" y="4663440"/>
            <a:ext cx="4572000" cy="365760"/>
          </a:xfrm>
          <a:prstGeom prst="rect">
            <a:avLst/>
          </a:prstGeom>
          <a:noFill/>
        </p:spPr>
        <p:txBody>
          <a:bodyPr wrap="square" lIns="0" tIns="0" rIns="0" bIns="0" anchor="t">
            <a:spAutoFit/>
          </a:bodyPr>
          <a:lstStyle/>
          <a:p>
            <a:pPr algn="l">
              <a:lnSpc>
                <a:spcPct val="105000"/>
              </a:lnSpc>
              <a:buNone/>
              <a:defRPr>
                <a:latin typeface="Arial"/>
                <a:ea typeface="Arial"/>
                <a:cs typeface="Arial"/>
              </a:defRPr>
            </a:pPr>
            <a:r>
              <a:rPr sz="1100" b="0" i="0">
                <a:solidFill>
                  <a:srgbClr val="7A888B"/>
                </a:solidFill>
                <a:latin typeface="Arial"/>
                <a:ea typeface="Arial"/>
                <a:cs typeface="Arial"/>
              </a:rPr>
              <a:t>Gartner press release, 25 June 2025</a:t>
            </a:r>
          </a:p>
        </p:txBody>
      </p:sp>
      <p:sp>
        <p:nvSpPr>
          <p:cNvPr id="12" name="TextBox 11">
            <a:extLst>
              <a:ext uri="{FF2B5EF4-FFF2-40B4-BE49-F238E27FC236}">
                <a16:creationId xmlns:a16="http://schemas.microsoft.com/office/drawing/2014/main" id="{663F05BA-DD08-40DA-87B3-25C7C465B0A2}"/>
              </a:ext>
            </a:extLst>
          </p:cNvPr>
          <p:cNvSpPr>
            <a:spLocks noGrp="1"/>
          </p:cNvSpPr>
          <p:nvPr/>
        </p:nvSpPr>
        <p:spPr>
          <a:xfrm>
            <a:off x="640080" y="5532120"/>
            <a:ext cx="10881360" cy="457200"/>
          </a:xfrm>
          <a:prstGeom prst="rect">
            <a:avLst/>
          </a:prstGeom>
          <a:noFill/>
        </p:spPr>
        <p:txBody>
          <a:bodyPr wrap="square" lIns="0" tIns="0" rIns="0" bIns="0" anchor="t">
            <a:spAutoFit/>
          </a:bodyPr>
          <a:lstStyle/>
          <a:p>
            <a:pPr algn="l">
              <a:lnSpc>
                <a:spcPct val="105000"/>
              </a:lnSpc>
              <a:buNone/>
              <a:defRPr>
                <a:latin typeface="Arial"/>
                <a:ea typeface="Arial"/>
                <a:cs typeface="Arial"/>
              </a:defRPr>
            </a:pPr>
            <a:r>
              <a:rPr sz="1900" b="1" i="0">
                <a:solidFill>
                  <a:srgbClr val="3A5BA0"/>
                </a:solidFill>
                <a:latin typeface="Arial"/>
                <a:ea typeface="Arial"/>
                <a:cs typeface="Arial"/>
              </a:rPr>
              <a:t>Assay helps teams measure cost, quality and risk before granting more freedom.</a:t>
            </a:r>
          </a:p>
        </p:txBody>
      </p:sp>
      <p:sp>
        <p:nvSpPr>
          <p:cNvPr id="13" name="TextBox 12">
            <a:extLst>
              <a:ext uri="{FF2B5EF4-FFF2-40B4-BE49-F238E27FC236}">
                <a16:creationId xmlns:a16="http://schemas.microsoft.com/office/drawing/2014/main" id="{392C7888-4389-4CBE-B48A-8B0B01B443F0}"/>
              </a:ext>
            </a:extLst>
          </p:cNvPr>
          <p:cNvSpPr>
            <a:spLocks noGrp="1"/>
          </p:cNvSpPr>
          <p:nvPr/>
        </p:nvSpPr>
        <p:spPr>
          <a:xfrm>
            <a:off x="640080" y="6400800"/>
            <a:ext cx="7315200" cy="274320"/>
          </a:xfrm>
          <a:prstGeom prst="rect">
            <a:avLst/>
          </a:prstGeom>
          <a:noFill/>
        </p:spPr>
        <p:txBody>
          <a:bodyPr wrap="square" lIns="0" tIns="0" rIns="0" bIns="0" anchor="t">
            <a:spAutoFit/>
          </a:bodyPr>
          <a:lstStyle/>
          <a:p>
            <a:pPr algn="l">
              <a:lnSpc>
                <a:spcPct val="105000"/>
              </a:lnSpc>
              <a:buNone/>
              <a:defRPr>
                <a:latin typeface="Arial"/>
                <a:ea typeface="Arial"/>
                <a:cs typeface="Arial"/>
              </a:defRPr>
            </a:pPr>
            <a:r>
              <a:rPr sz="1000" b="0" i="0">
                <a:solidFill>
                  <a:srgbClr val="7A888B"/>
                </a:solidFill>
                <a:latin typeface="Arial"/>
                <a:ea typeface="Arial"/>
                <a:cs typeface="Arial"/>
              </a:rPr>
              <a:t>Assay · Badger BuildFest 2026 · 2</a:t>
            </a:r>
          </a:p>
        </p:txBody>
      </p:sp>
    </p:spTree>
    <p:extLst>
      <p:ext uri="{BB962C8B-B14F-4D97-AF65-F5344CB8AC3E}">
        <p14:creationId xmlns:p14="http://schemas.microsoft.com/office/powerpoint/2010/main" val="801573053"/>
      </p:ext>
    </p:extLst>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FC82292A-9191-4734-9D66-48302942DFC6}"/>
              </a:ext>
            </a:extLst>
          </p:cNvPr>
          <p:cNvSpPr>
            <a:spLocks noGrp="1"/>
          </p:cNvSpPr>
          <p:nvPr/>
        </p:nvSpPr>
        <p:spPr>
          <a:xfrm>
            <a:off x="640080" y="502920"/>
            <a:ext cx="10911535" cy="566928"/>
          </a:xfrm>
          <a:prstGeom prst="rect">
            <a:avLst/>
          </a:prstGeom>
          <a:noFill/>
        </p:spPr>
        <p:txBody>
          <a:bodyPr wrap="square" lIns="0" tIns="0" rIns="0" bIns="0" anchor="t"/>
          <a:lstStyle/>
          <a:p>
            <a:pPr marL="0" indent="0">
              <a:buNone/>
            </a:pPr>
            <a:r>
              <a:rPr sz="3200" b="1">
                <a:solidFill>
                  <a:srgbClr val="14232A"/>
                </a:solidFill>
                <a:latin typeface="Arial"/>
                <a:ea typeface="Arial"/>
                <a:cs typeface="Arial"/>
              </a:rPr>
              <a:t>The decision every manager faces</a:t>
            </a:r>
            <a:endParaRPr sz="3200"/>
          </a:p>
        </p:txBody>
      </p:sp>
      <p:sp>
        <p:nvSpPr>
          <p:cNvPr id="3" name="Text 1">
            <a:extLst>
              <a:ext uri="{FF2B5EF4-FFF2-40B4-BE49-F238E27FC236}">
                <a16:creationId xmlns:a16="http://schemas.microsoft.com/office/drawing/2014/main" id="{DD95176C-563D-4D96-A5BA-3F240916B960}"/>
              </a:ext>
            </a:extLst>
          </p:cNvPr>
          <p:cNvSpPr>
            <a:spLocks noGrp="1"/>
          </p:cNvSpPr>
          <p:nvPr/>
        </p:nvSpPr>
        <p:spPr>
          <a:xfrm>
            <a:off x="640080" y="1097280"/>
            <a:ext cx="10911535" cy="320040"/>
          </a:xfrm>
          <a:prstGeom prst="rect">
            <a:avLst/>
          </a:prstGeom>
          <a:noFill/>
        </p:spPr>
        <p:txBody>
          <a:bodyPr wrap="square" lIns="0" tIns="0" rIns="0" bIns="0" anchor="t"/>
          <a:lstStyle/>
          <a:p>
            <a:pPr marL="0" indent="0">
              <a:buNone/>
            </a:pPr>
            <a:r>
              <a:rPr sz="1600">
                <a:solidFill>
                  <a:srgbClr val="4A5A5E"/>
                </a:solidFill>
                <a:latin typeface="Arial"/>
                <a:ea typeface="Arial"/>
                <a:cs typeface="Arial"/>
              </a:rPr>
              <a:t>A suggestion arrives. Should the manager approve it, reject it, or let the agent act?</a:t>
            </a:r>
            <a:endParaRPr sz="1600"/>
          </a:p>
        </p:txBody>
      </p:sp>
      <p:sp>
        <p:nvSpPr>
          <p:cNvPr id="4" name="Shape 2">
            <a:extLst>
              <a:ext uri="{FF2B5EF4-FFF2-40B4-BE49-F238E27FC236}">
                <a16:creationId xmlns:a16="http://schemas.microsoft.com/office/drawing/2014/main" id="{437BBE49-FCAE-4DA9-BDB1-F67C45C964CD}"/>
              </a:ext>
            </a:extLst>
          </p:cNvPr>
          <p:cNvSpPr>
            <a:spLocks noGrp="1"/>
          </p:cNvSpPr>
          <p:nvPr/>
        </p:nvSpPr>
        <p:spPr>
          <a:xfrm>
            <a:off x="640080" y="1783080"/>
            <a:ext cx="5212080" cy="3520440"/>
          </a:xfrm>
          <a:prstGeom prst="roundRect">
            <a:avLst>
              <a:gd name="adj" fmla="val 3117"/>
            </a:avLst>
          </a:prstGeom>
          <a:solidFill>
            <a:srgbClr val="FFFFFF"/>
          </a:solidFill>
          <a:ln w="12700">
            <a:solidFill>
              <a:srgbClr val="D5DCD3"/>
            </a:solidFill>
            <a:prstDash val="solid"/>
          </a:ln>
        </p:spPr>
        <p:txBody>
          <a:bodyPr/>
          <a:lstStyle/>
          <a:p>
            <a:endParaRPr/>
          </a:p>
        </p:txBody>
      </p:sp>
      <p:sp>
        <p:nvSpPr>
          <p:cNvPr id="5" name="Text 3">
            <a:extLst>
              <a:ext uri="{FF2B5EF4-FFF2-40B4-BE49-F238E27FC236}">
                <a16:creationId xmlns:a16="http://schemas.microsoft.com/office/drawing/2014/main" id="{149B802B-91DC-4C4D-8C27-FEC2E322BD3F}"/>
              </a:ext>
            </a:extLst>
          </p:cNvPr>
          <p:cNvSpPr>
            <a:spLocks noGrp="1"/>
          </p:cNvSpPr>
          <p:nvPr/>
        </p:nvSpPr>
        <p:spPr>
          <a:xfrm>
            <a:off x="960120" y="2057400"/>
            <a:ext cx="4572000" cy="274320"/>
          </a:xfrm>
          <a:prstGeom prst="rect">
            <a:avLst/>
          </a:prstGeom>
          <a:noFill/>
        </p:spPr>
        <p:txBody>
          <a:bodyPr wrap="square" lIns="0" tIns="0" rIns="0" bIns="0" anchor="t"/>
          <a:lstStyle/>
          <a:p>
            <a:pPr marL="0" indent="0">
              <a:buNone/>
            </a:pPr>
            <a:r>
              <a:rPr sz="1200" b="1" spc="150">
                <a:solidFill>
                  <a:srgbClr val="3A5BA0"/>
                </a:solidFill>
                <a:latin typeface="Arial"/>
                <a:ea typeface="Arial"/>
                <a:cs typeface="Arial"/>
              </a:rPr>
              <a:t>THE PROBLEM</a:t>
            </a:r>
            <a:endParaRPr sz="1200"/>
          </a:p>
        </p:txBody>
      </p:sp>
      <p:sp>
        <p:nvSpPr>
          <p:cNvPr id="6" name="Text 4">
            <a:extLst>
              <a:ext uri="{FF2B5EF4-FFF2-40B4-BE49-F238E27FC236}">
                <a16:creationId xmlns:a16="http://schemas.microsoft.com/office/drawing/2014/main" id="{A10CCF10-FE8D-4233-BB4D-9F14AC7D1958}"/>
              </a:ext>
            </a:extLst>
          </p:cNvPr>
          <p:cNvSpPr>
            <a:spLocks noGrp="1"/>
          </p:cNvSpPr>
          <p:nvPr/>
        </p:nvSpPr>
        <p:spPr>
          <a:xfrm>
            <a:off x="960120" y="2395728"/>
            <a:ext cx="4572000" cy="548640"/>
          </a:xfrm>
          <a:prstGeom prst="rect">
            <a:avLst/>
          </a:prstGeom>
          <a:noFill/>
        </p:spPr>
        <p:txBody>
          <a:bodyPr wrap="square" lIns="0" tIns="0" rIns="0" bIns="0" anchor="t"/>
          <a:lstStyle/>
          <a:p>
            <a:pPr marL="0" indent="0">
              <a:buNone/>
            </a:pPr>
            <a:r>
              <a:rPr sz="1400">
                <a:solidFill>
                  <a:srgbClr val="14232A"/>
                </a:solidFill>
                <a:latin typeface="Arial"/>
                <a:ea typeface="Arial"/>
                <a:cs typeface="Arial"/>
              </a:rPr>
              <a:t>Checking every answer takes time. Trusting every answer lets mistakes through.</a:t>
            </a:r>
            <a:endParaRPr sz="1400"/>
          </a:p>
        </p:txBody>
      </p:sp>
      <p:sp>
        <p:nvSpPr>
          <p:cNvPr id="7" name="Text 5">
            <a:extLst>
              <a:ext uri="{FF2B5EF4-FFF2-40B4-BE49-F238E27FC236}">
                <a16:creationId xmlns:a16="http://schemas.microsoft.com/office/drawing/2014/main" id="{42746C32-AF74-4D5F-853D-11DD20C92F78}"/>
              </a:ext>
            </a:extLst>
          </p:cNvPr>
          <p:cNvSpPr>
            <a:spLocks noGrp="1"/>
          </p:cNvSpPr>
          <p:nvPr/>
        </p:nvSpPr>
        <p:spPr>
          <a:xfrm>
            <a:off x="960120" y="3028950"/>
            <a:ext cx="4572000" cy="819150"/>
          </a:xfrm>
          <a:prstGeom prst="rect">
            <a:avLst/>
          </a:prstGeom>
          <a:noFill/>
        </p:spPr>
        <p:txBody>
          <a:bodyPr wrap="square" lIns="0" tIns="0" rIns="0" bIns="0" anchor="t"/>
          <a:lstStyle/>
          <a:p>
            <a:pPr marL="0" indent="0">
              <a:buNone/>
              <a:defRPr sz="6000" b="1">
                <a:solidFill>
                  <a:srgbClr val="14232A"/>
                </a:solidFill>
                <a:latin typeface="Arial"/>
                <a:ea typeface="Arial"/>
                <a:cs typeface="Arial"/>
              </a:defRPr>
            </a:pPr>
            <a:r>
              <a:rPr sz="6000" b="1">
                <a:solidFill>
                  <a:srgbClr val="14232A"/>
                </a:solidFill>
                <a:latin typeface="Arial"/>
                <a:ea typeface="Arial"/>
                <a:cs typeface="Arial"/>
              </a:rPr>
              <a:t>77%</a:t>
            </a:r>
            <a:endParaRPr sz="4800"/>
          </a:p>
        </p:txBody>
      </p:sp>
      <p:sp>
        <p:nvSpPr>
          <p:cNvPr id="8" name="Text 6">
            <a:extLst>
              <a:ext uri="{FF2B5EF4-FFF2-40B4-BE49-F238E27FC236}">
                <a16:creationId xmlns:a16="http://schemas.microsoft.com/office/drawing/2014/main" id="{C6231CF5-8560-4C9B-AF54-503368C668B4}"/>
              </a:ext>
            </a:extLst>
          </p:cNvPr>
          <p:cNvSpPr>
            <a:spLocks noGrp="1"/>
          </p:cNvSpPr>
          <p:nvPr/>
        </p:nvSpPr>
        <p:spPr>
          <a:xfrm>
            <a:off x="960120" y="3905250"/>
            <a:ext cx="4572000" cy="495300"/>
          </a:xfrm>
          <a:prstGeom prst="rect">
            <a:avLst/>
          </a:prstGeom>
          <a:noFill/>
        </p:spPr>
        <p:txBody>
          <a:bodyPr wrap="square" lIns="0" tIns="0" rIns="0" bIns="0" anchor="t"/>
          <a:lstStyle/>
          <a:p>
            <a:pPr marL="0" indent="0">
              <a:buNone/>
            </a:pPr>
            <a:r>
              <a:rPr sz="1400">
                <a:solidFill>
                  <a:srgbClr val="14232A"/>
                </a:solidFill>
                <a:latin typeface="Arial"/>
                <a:ea typeface="Arial"/>
                <a:cs typeface="Arial"/>
              </a:rPr>
              <a:t>of checkable answers rated 95%+ confident were wrong</a:t>
            </a:r>
            <a:endParaRPr sz="1400"/>
          </a:p>
        </p:txBody>
      </p:sp>
      <p:sp>
        <p:nvSpPr>
          <p:cNvPr id="9" name="Text 7">
            <a:extLst>
              <a:ext uri="{FF2B5EF4-FFF2-40B4-BE49-F238E27FC236}">
                <a16:creationId xmlns:a16="http://schemas.microsoft.com/office/drawing/2014/main" id="{594481FA-3A35-4153-93F4-53FF44234B25}"/>
              </a:ext>
            </a:extLst>
          </p:cNvPr>
          <p:cNvSpPr>
            <a:spLocks noGrp="1"/>
          </p:cNvSpPr>
          <p:nvPr/>
        </p:nvSpPr>
        <p:spPr>
          <a:xfrm>
            <a:off x="960120" y="4514850"/>
            <a:ext cx="4572000" cy="552450"/>
          </a:xfrm>
          <a:prstGeom prst="rect">
            <a:avLst/>
          </a:prstGeom>
          <a:noFill/>
        </p:spPr>
        <p:txBody>
          <a:bodyPr wrap="square" lIns="0" tIns="0" rIns="0" bIns="0" anchor="t"/>
          <a:lstStyle/>
          <a:p>
            <a:pPr marL="0" indent="0">
              <a:buNone/>
            </a:pPr>
            <a:r>
              <a:rPr sz="1200">
                <a:solidFill>
                  <a:srgbClr val="4A5A5E"/>
                </a:solidFill>
                <a:latin typeface="Arial"/>
                <a:ea typeface="Arial"/>
                <a:cs typeface="Arial"/>
              </a:rPr>
              <a:t>1,793 of 2,321 answers</a:t>
            </a:r>
            <a:endParaRPr sz="1200"/>
          </a:p>
          <a:p>
            <a:pPr marL="0" indent="0">
              <a:buNone/>
            </a:pPr>
            <a:r>
              <a:rPr sz="1200">
                <a:solidFill>
                  <a:srgbClr val="4A5A5E"/>
                </a:solidFill>
                <a:latin typeface="Arial"/>
                <a:ea typeface="Arial"/>
                <a:cs typeface="Arial"/>
              </a:rPr>
              <a:t>8 models tested on 1,362 real tickets</a:t>
            </a:r>
            <a:endParaRPr sz="1200"/>
          </a:p>
        </p:txBody>
      </p:sp>
      <p:sp>
        <p:nvSpPr>
          <p:cNvPr id="10" name="Text 8">
            <a:extLst>
              <a:ext uri="{FF2B5EF4-FFF2-40B4-BE49-F238E27FC236}">
                <a16:creationId xmlns:a16="http://schemas.microsoft.com/office/drawing/2014/main" id="{3BC50E2F-D245-4979-8AE6-535B2721C286}"/>
              </a:ext>
            </a:extLst>
          </p:cNvPr>
          <p:cNvSpPr>
            <a:spLocks noGrp="1"/>
          </p:cNvSpPr>
          <p:nvPr/>
        </p:nvSpPr>
        <p:spPr>
          <a:xfrm>
            <a:off x="6263640" y="2057400"/>
            <a:ext cx="5287975" cy="274320"/>
          </a:xfrm>
          <a:prstGeom prst="rect">
            <a:avLst/>
          </a:prstGeom>
          <a:noFill/>
        </p:spPr>
        <p:txBody>
          <a:bodyPr wrap="square" lIns="0" tIns="0" rIns="0" bIns="0" anchor="t"/>
          <a:lstStyle/>
          <a:p>
            <a:pPr marL="0" indent="0">
              <a:buNone/>
            </a:pPr>
            <a:r>
              <a:rPr sz="1200" b="1" spc="150">
                <a:solidFill>
                  <a:srgbClr val="3A5BA0"/>
                </a:solidFill>
                <a:latin typeface="Arial"/>
                <a:ea typeface="Arial"/>
                <a:cs typeface="Arial"/>
              </a:rPr>
              <a:t>WHAT ASSAY DOES</a:t>
            </a:r>
            <a:endParaRPr sz="1200"/>
          </a:p>
        </p:txBody>
      </p:sp>
      <p:pic>
        <p:nvPicPr>
          <p:cNvPr id="42" name="Image 0"/>
          <p:cNvPicPr>
            <a:picLocks noChangeAspect="1"/>
          </p:cNvPicPr>
          <p:nvPr/>
        </p:nvPicPr>
        <p:blipFill>
          <a:blip r:embed="rId3"/>
          <a:stretch>
            <a:fillRect/>
          </a:stretch>
        </p:blipFill>
        <p:spPr>
          <a:xfrm>
            <a:off x="6263640" y="2487168"/>
            <a:ext cx="365760" cy="365760"/>
          </a:xfrm>
          <a:prstGeom prst="rect">
            <a:avLst/>
          </a:prstGeom>
        </p:spPr>
      </p:pic>
      <p:sp>
        <p:nvSpPr>
          <p:cNvPr id="12" name="Text 9">
            <a:extLst>
              <a:ext uri="{FF2B5EF4-FFF2-40B4-BE49-F238E27FC236}">
                <a16:creationId xmlns:a16="http://schemas.microsoft.com/office/drawing/2014/main" id="{AFE92178-F582-40F7-95A0-6B31EAA58E1C}"/>
              </a:ext>
            </a:extLst>
          </p:cNvPr>
          <p:cNvSpPr>
            <a:spLocks noGrp="1"/>
          </p:cNvSpPr>
          <p:nvPr/>
        </p:nvSpPr>
        <p:spPr>
          <a:xfrm>
            <a:off x="6812280" y="2468880"/>
            <a:ext cx="4739335" cy="310896"/>
          </a:xfrm>
          <a:prstGeom prst="rect">
            <a:avLst/>
          </a:prstGeom>
          <a:noFill/>
        </p:spPr>
        <p:txBody>
          <a:bodyPr wrap="square" lIns="0" tIns="0" rIns="0" bIns="0" anchor="t"/>
          <a:lstStyle/>
          <a:p>
            <a:pPr marL="0" indent="0">
              <a:buNone/>
            </a:pPr>
            <a:r>
              <a:rPr sz="1600" b="1">
                <a:solidFill>
                  <a:srgbClr val="14232A"/>
                </a:solidFill>
                <a:latin typeface="Arial"/>
                <a:ea typeface="Arial"/>
                <a:cs typeface="Arial"/>
              </a:rPr>
              <a:t>Sets limits on acting alone</a:t>
            </a:r>
            <a:endParaRPr sz="1600"/>
          </a:p>
        </p:txBody>
      </p:sp>
      <p:sp>
        <p:nvSpPr>
          <p:cNvPr id="13" name="Text 10">
            <a:extLst>
              <a:ext uri="{FF2B5EF4-FFF2-40B4-BE49-F238E27FC236}">
                <a16:creationId xmlns:a16="http://schemas.microsoft.com/office/drawing/2014/main" id="{9200DA00-B7FC-467A-BE4E-A17D9FB428B6}"/>
              </a:ext>
            </a:extLst>
          </p:cNvPr>
          <p:cNvSpPr>
            <a:spLocks noGrp="1"/>
          </p:cNvSpPr>
          <p:nvPr/>
        </p:nvSpPr>
        <p:spPr>
          <a:xfrm>
            <a:off x="6812280" y="2807208"/>
            <a:ext cx="4739335" cy="274320"/>
          </a:xfrm>
          <a:prstGeom prst="rect">
            <a:avLst/>
          </a:prstGeom>
          <a:noFill/>
        </p:spPr>
        <p:txBody>
          <a:bodyPr wrap="square" lIns="0" tIns="0" rIns="0" bIns="0" anchor="t"/>
          <a:lstStyle/>
          <a:p>
            <a:pPr marL="0" indent="0">
              <a:buNone/>
            </a:pPr>
            <a:r>
              <a:rPr sz="1300">
                <a:solidFill>
                  <a:srgbClr val="4A5A5E"/>
                </a:solidFill>
                <a:latin typeface="Arial"/>
                <a:ea typeface="Arial"/>
                <a:cs typeface="Arial"/>
              </a:rPr>
              <a:t>Only where the checked record proves it.</a:t>
            </a:r>
            <a:endParaRPr sz="1300"/>
          </a:p>
        </p:txBody>
      </p:sp>
      <p:pic>
        <p:nvPicPr>
          <p:cNvPr id="45" name="Image 1"/>
          <p:cNvPicPr>
            <a:picLocks noChangeAspect="1"/>
          </p:cNvPicPr>
          <p:nvPr/>
        </p:nvPicPr>
        <p:blipFill>
          <a:blip r:embed="rId4"/>
          <a:stretch>
            <a:fillRect/>
          </a:stretch>
        </p:blipFill>
        <p:spPr>
          <a:xfrm>
            <a:off x="6263640" y="3200400"/>
            <a:ext cx="365760" cy="365760"/>
          </a:xfrm>
          <a:prstGeom prst="rect">
            <a:avLst/>
          </a:prstGeom>
        </p:spPr>
      </p:pic>
      <p:sp>
        <p:nvSpPr>
          <p:cNvPr id="15" name="Text 11">
            <a:extLst>
              <a:ext uri="{FF2B5EF4-FFF2-40B4-BE49-F238E27FC236}">
                <a16:creationId xmlns:a16="http://schemas.microsoft.com/office/drawing/2014/main" id="{BE0C8D23-0B9A-4D39-9435-5A8CE3FEBDB9}"/>
              </a:ext>
            </a:extLst>
          </p:cNvPr>
          <p:cNvSpPr>
            <a:spLocks noGrp="1"/>
          </p:cNvSpPr>
          <p:nvPr/>
        </p:nvSpPr>
        <p:spPr>
          <a:xfrm>
            <a:off x="6812280" y="3182112"/>
            <a:ext cx="4739335" cy="310896"/>
          </a:xfrm>
          <a:prstGeom prst="rect">
            <a:avLst/>
          </a:prstGeom>
          <a:noFill/>
        </p:spPr>
        <p:txBody>
          <a:bodyPr wrap="square" lIns="0" tIns="0" rIns="0" bIns="0" anchor="t"/>
          <a:lstStyle/>
          <a:p>
            <a:pPr marL="0" indent="0">
              <a:buNone/>
            </a:pPr>
            <a:r>
              <a:rPr sz="1600" b="1">
                <a:solidFill>
                  <a:srgbClr val="14232A"/>
                </a:solidFill>
                <a:latin typeface="Arial"/>
                <a:ea typeface="Arial"/>
                <a:cs typeface="Arial"/>
              </a:rPr>
              <a:t>Chooses the model</a:t>
            </a:r>
            <a:endParaRPr sz="1600"/>
          </a:p>
        </p:txBody>
      </p:sp>
      <p:sp>
        <p:nvSpPr>
          <p:cNvPr id="16" name="Text 12">
            <a:extLst>
              <a:ext uri="{FF2B5EF4-FFF2-40B4-BE49-F238E27FC236}">
                <a16:creationId xmlns:a16="http://schemas.microsoft.com/office/drawing/2014/main" id="{3A7F6147-6896-48A3-8C21-BA64A88B2001}"/>
              </a:ext>
            </a:extLst>
          </p:cNvPr>
          <p:cNvSpPr>
            <a:spLocks noGrp="1"/>
          </p:cNvSpPr>
          <p:nvPr/>
        </p:nvSpPr>
        <p:spPr>
          <a:xfrm>
            <a:off x="6812280" y="3520440"/>
            <a:ext cx="4739335" cy="274320"/>
          </a:xfrm>
          <a:prstGeom prst="rect">
            <a:avLst/>
          </a:prstGeom>
          <a:noFill/>
        </p:spPr>
        <p:txBody>
          <a:bodyPr wrap="square" lIns="0" tIns="0" rIns="0" bIns="0" anchor="t"/>
          <a:lstStyle/>
          <a:p>
            <a:pPr marL="0" indent="0">
              <a:buNone/>
            </a:pPr>
            <a:r>
              <a:rPr sz="1300">
                <a:solidFill>
                  <a:srgbClr val="4A5A5E"/>
                </a:solidFill>
                <a:latin typeface="Arial"/>
                <a:ea typeface="Arial"/>
                <a:cs typeface="Arial"/>
              </a:rPr>
              <a:t>The cheapest model that meets the quality rule.</a:t>
            </a:r>
            <a:endParaRPr sz="1300"/>
          </a:p>
        </p:txBody>
      </p:sp>
      <p:pic>
        <p:nvPicPr>
          <p:cNvPr id="48" name="Image 2"/>
          <p:cNvPicPr>
            <a:picLocks noChangeAspect="1"/>
          </p:cNvPicPr>
          <p:nvPr/>
        </p:nvPicPr>
        <p:blipFill>
          <a:blip r:embed="rId5"/>
          <a:stretch>
            <a:fillRect/>
          </a:stretch>
        </p:blipFill>
        <p:spPr>
          <a:xfrm>
            <a:off x="6263640" y="3913632"/>
            <a:ext cx="365760" cy="365760"/>
          </a:xfrm>
          <a:prstGeom prst="rect">
            <a:avLst/>
          </a:prstGeom>
        </p:spPr>
      </p:pic>
      <p:sp>
        <p:nvSpPr>
          <p:cNvPr id="18" name="Text 13">
            <a:extLst>
              <a:ext uri="{FF2B5EF4-FFF2-40B4-BE49-F238E27FC236}">
                <a16:creationId xmlns:a16="http://schemas.microsoft.com/office/drawing/2014/main" id="{76ED1DB0-5664-4ED8-B3C2-B54EA44B3175}"/>
              </a:ext>
            </a:extLst>
          </p:cNvPr>
          <p:cNvSpPr>
            <a:spLocks noGrp="1"/>
          </p:cNvSpPr>
          <p:nvPr/>
        </p:nvSpPr>
        <p:spPr>
          <a:xfrm>
            <a:off x="6812280" y="3895344"/>
            <a:ext cx="4739335" cy="310896"/>
          </a:xfrm>
          <a:prstGeom prst="rect">
            <a:avLst/>
          </a:prstGeom>
          <a:noFill/>
        </p:spPr>
        <p:txBody>
          <a:bodyPr wrap="square" lIns="0" tIns="0" rIns="0" bIns="0" anchor="t"/>
          <a:lstStyle/>
          <a:p>
            <a:pPr marL="0" indent="0">
              <a:buNone/>
            </a:pPr>
            <a:r>
              <a:rPr sz="1600" b="1">
                <a:solidFill>
                  <a:srgbClr val="14232A"/>
                </a:solidFill>
                <a:latin typeface="Arial"/>
                <a:ea typeface="Arial"/>
                <a:cs typeface="Arial"/>
              </a:rPr>
              <a:t>Checks proposed corrections</a:t>
            </a:r>
            <a:endParaRPr sz="1600"/>
          </a:p>
        </p:txBody>
      </p:sp>
      <p:sp>
        <p:nvSpPr>
          <p:cNvPr id="19" name="Text 14">
            <a:extLst>
              <a:ext uri="{FF2B5EF4-FFF2-40B4-BE49-F238E27FC236}">
                <a16:creationId xmlns:a16="http://schemas.microsoft.com/office/drawing/2014/main" id="{873FE78B-C1A5-4EC4-A33E-6C91F41929BF}"/>
              </a:ext>
            </a:extLst>
          </p:cNvPr>
          <p:cNvSpPr>
            <a:spLocks noGrp="1"/>
          </p:cNvSpPr>
          <p:nvPr/>
        </p:nvSpPr>
        <p:spPr>
          <a:xfrm>
            <a:off x="6812280" y="4233672"/>
            <a:ext cx="4739335" cy="274320"/>
          </a:xfrm>
          <a:prstGeom prst="rect">
            <a:avLst/>
          </a:prstGeom>
          <a:noFill/>
        </p:spPr>
        <p:txBody>
          <a:bodyPr wrap="square" lIns="0" tIns="0" rIns="0" bIns="0" anchor="t"/>
          <a:lstStyle/>
          <a:p>
            <a:pPr marL="0" indent="0">
              <a:buNone/>
            </a:pPr>
            <a:r>
              <a:rPr sz="1300">
                <a:solidFill>
                  <a:srgbClr val="4A5A5E"/>
                </a:solidFill>
                <a:latin typeface="Arial"/>
                <a:ea typeface="Arial"/>
                <a:cs typeface="Arial"/>
              </a:rPr>
              <a:t>Counts what each change fixes and breaks.</a:t>
            </a:r>
            <a:endParaRPr sz="1300"/>
          </a:p>
        </p:txBody>
      </p:sp>
      <p:pic>
        <p:nvPicPr>
          <p:cNvPr id="51" name="Image 3"/>
          <p:cNvPicPr>
            <a:picLocks noChangeAspect="1"/>
          </p:cNvPicPr>
          <p:nvPr/>
        </p:nvPicPr>
        <p:blipFill>
          <a:blip r:embed="rId6"/>
          <a:stretch>
            <a:fillRect/>
          </a:stretch>
        </p:blipFill>
        <p:spPr>
          <a:xfrm>
            <a:off x="6263640" y="4626864"/>
            <a:ext cx="365760" cy="365760"/>
          </a:xfrm>
          <a:prstGeom prst="rect">
            <a:avLst/>
          </a:prstGeom>
        </p:spPr>
      </p:pic>
      <p:sp>
        <p:nvSpPr>
          <p:cNvPr id="21" name="Text 15">
            <a:extLst>
              <a:ext uri="{FF2B5EF4-FFF2-40B4-BE49-F238E27FC236}">
                <a16:creationId xmlns:a16="http://schemas.microsoft.com/office/drawing/2014/main" id="{A030C5BA-DEEE-4619-B6EB-EA25B8C33CE6}"/>
              </a:ext>
            </a:extLst>
          </p:cNvPr>
          <p:cNvSpPr>
            <a:spLocks noGrp="1"/>
          </p:cNvSpPr>
          <p:nvPr/>
        </p:nvSpPr>
        <p:spPr>
          <a:xfrm>
            <a:off x="6812280" y="4608576"/>
            <a:ext cx="4739335" cy="310896"/>
          </a:xfrm>
          <a:prstGeom prst="rect">
            <a:avLst/>
          </a:prstGeom>
          <a:noFill/>
        </p:spPr>
        <p:txBody>
          <a:bodyPr wrap="square" lIns="0" tIns="0" rIns="0" bIns="0" anchor="t"/>
          <a:lstStyle/>
          <a:p>
            <a:pPr marL="0" indent="0">
              <a:buNone/>
            </a:pPr>
            <a:r>
              <a:rPr sz="1600" b="1">
                <a:solidFill>
                  <a:srgbClr val="14232A"/>
                </a:solidFill>
                <a:latin typeface="Arial"/>
                <a:ea typeface="Arial"/>
                <a:cs typeface="Arial"/>
              </a:rPr>
              <a:t>Learns from people</a:t>
            </a:r>
            <a:endParaRPr sz="1600"/>
          </a:p>
        </p:txBody>
      </p:sp>
      <p:sp>
        <p:nvSpPr>
          <p:cNvPr id="22" name="Text 16">
            <a:extLst>
              <a:ext uri="{FF2B5EF4-FFF2-40B4-BE49-F238E27FC236}">
                <a16:creationId xmlns:a16="http://schemas.microsoft.com/office/drawing/2014/main" id="{2699BA11-6395-480F-81F1-D4F0B75C8B7F}"/>
              </a:ext>
            </a:extLst>
          </p:cNvPr>
          <p:cNvSpPr>
            <a:spLocks noGrp="1"/>
          </p:cNvSpPr>
          <p:nvPr/>
        </p:nvSpPr>
        <p:spPr>
          <a:xfrm>
            <a:off x="6812280" y="4946904"/>
            <a:ext cx="4739335" cy="274320"/>
          </a:xfrm>
          <a:prstGeom prst="rect">
            <a:avLst/>
          </a:prstGeom>
          <a:noFill/>
        </p:spPr>
        <p:txBody>
          <a:bodyPr wrap="square" lIns="0" tIns="0" rIns="0" bIns="0" anchor="t"/>
          <a:lstStyle/>
          <a:p>
            <a:pPr marL="0" indent="0">
              <a:buNone/>
            </a:pPr>
            <a:r>
              <a:rPr sz="1300">
                <a:solidFill>
                  <a:srgbClr val="4A5A5E"/>
                </a:solidFill>
                <a:latin typeface="Arial"/>
                <a:ea typeface="Arial"/>
                <a:cs typeface="Arial"/>
              </a:rPr>
              <a:t>Each human decision becomes evidence.</a:t>
            </a:r>
            <a:endParaRPr sz="1300"/>
          </a:p>
        </p:txBody>
      </p:sp>
      <p:sp>
        <p:nvSpPr>
          <p:cNvPr id="23" name="Text 17">
            <a:extLst>
              <a:ext uri="{FF2B5EF4-FFF2-40B4-BE49-F238E27FC236}">
                <a16:creationId xmlns:a16="http://schemas.microsoft.com/office/drawing/2014/main" id="{823A4015-290D-4115-AD2B-B5888D260334}"/>
              </a:ext>
            </a:extLst>
          </p:cNvPr>
          <p:cNvSpPr>
            <a:spLocks noGrp="1"/>
          </p:cNvSpPr>
          <p:nvPr/>
        </p:nvSpPr>
        <p:spPr>
          <a:xfrm>
            <a:off x="640080" y="6355080"/>
            <a:ext cx="10911535" cy="274320"/>
          </a:xfrm>
          <a:prstGeom prst="rect">
            <a:avLst/>
          </a:prstGeom>
          <a:noFill/>
        </p:spPr>
        <p:txBody>
          <a:bodyPr wrap="square" lIns="0" tIns="0" rIns="0" bIns="0" anchor="t"/>
          <a:lstStyle/>
          <a:p>
            <a:pPr marL="0" indent="0">
              <a:buNone/>
            </a:pPr>
            <a:r>
              <a:rPr sz="1100">
                <a:solidFill>
                  <a:srgbClr val="5A6A6E"/>
                </a:solidFill>
                <a:latin typeface="Arial"/>
                <a:ea typeface="Arial"/>
                <a:cs typeface="Arial"/>
              </a:rPr>
              <a:t>Assay · Badger BuildFest 2026 · 3</a:t>
            </a:r>
            <a:endParaRPr sz="1100"/>
          </a:p>
        </p:txBody>
      </p:sp>
      <p:sp>
        <p:nvSpPr>
          <p:cNvPr id="28" name="No model earned general permission to act alo">
            <a:extLst>
              <a:ext uri="{FF2B5EF4-FFF2-40B4-BE49-F238E27FC236}">
                <a16:creationId xmlns:a16="http://schemas.microsoft.com/office/drawing/2014/main" id="{7DAC87A3-F880-4BA1-8155-5D5CF3B726A2}"/>
              </a:ext>
            </a:extLst>
          </p:cNvPr>
          <p:cNvSpPr>
            <a:spLocks noGrp="1"/>
          </p:cNvSpPr>
          <p:nvPr/>
        </p:nvSpPr>
        <p:spPr>
          <a:xfrm>
            <a:off x="640080" y="5610225"/>
            <a:ext cx="10477500" cy="333375"/>
          </a:xfrm>
          <a:prstGeom prst="rect">
            <a:avLst/>
          </a:prstGeom>
          <a:noFill/>
          <a:ln w="0">
            <a:noFill/>
          </a:ln>
        </p:spPr>
        <p:txBody>
          <a:bodyPr lIns="0" tIns="0" rIns="0" bIns="0">
            <a:noAutofit/>
          </a:bodyPr>
          <a:lstStyle/>
          <a:p>
            <a:pPr>
              <a:buNone/>
              <a:defRPr sz="1650" b="1">
                <a:solidFill>
                  <a:srgbClr val="3A5BA0"/>
                </a:solidFill>
                <a:latin typeface="Arial"/>
                <a:ea typeface="Arial"/>
                <a:cs typeface="Arial"/>
              </a:defRPr>
            </a:pPr>
            <a:r>
              <a:rPr sz="1650" b="1">
                <a:solidFill>
                  <a:srgbClr val="3A5BA0"/>
                </a:solidFill>
                <a:latin typeface="Arial"/>
                <a:ea typeface="Arial"/>
                <a:cs typeface="Arial"/>
              </a:rPr>
              <a:t>No model earned general permission to act alone.</a:t>
            </a:r>
          </a:p>
        </p:txBody>
      </p:sp>
    </p:spTree>
    <p:extLst>
      <p:ext uri="{BB962C8B-B14F-4D97-AF65-F5344CB8AC3E}">
        <p14:creationId xmlns:p14="http://schemas.microsoft.com/office/powerpoint/2010/main" val="1028211979"/>
      </p:ext>
    </p:extLst>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9A5D1626-E5B4-454F-AB93-EEF8DFCE26CF}"/>
              </a:ext>
            </a:extLst>
          </p:cNvPr>
          <p:cNvSpPr>
            <a:spLocks noGrp="1"/>
          </p:cNvSpPr>
          <p:nvPr/>
        </p:nvSpPr>
        <p:spPr>
          <a:xfrm>
            <a:off x="640080" y="502920"/>
            <a:ext cx="10911535" cy="566928"/>
          </a:xfrm>
          <a:prstGeom prst="rect">
            <a:avLst/>
          </a:prstGeom>
          <a:noFill/>
        </p:spPr>
        <p:txBody>
          <a:bodyPr wrap="square" lIns="0" tIns="0" rIns="0" bIns="0" anchor="t"/>
          <a:lstStyle/>
          <a:p>
            <a:pPr marL="0" indent="0">
              <a:buNone/>
            </a:pPr>
            <a:r>
              <a:rPr sz="3200" b="1">
                <a:solidFill>
                  <a:srgbClr val="14232A"/>
                </a:solidFill>
                <a:latin typeface="Arial"/>
                <a:ea typeface="Arial"/>
                <a:cs typeface="Arial"/>
              </a:rPr>
              <a:t>Assay in action</a:t>
            </a:r>
            <a:endParaRPr sz="3200"/>
          </a:p>
        </p:txBody>
      </p:sp>
      <p:sp>
        <p:nvSpPr>
          <p:cNvPr id="3" name="Text 1">
            <a:extLst>
              <a:ext uri="{FF2B5EF4-FFF2-40B4-BE49-F238E27FC236}">
                <a16:creationId xmlns:a16="http://schemas.microsoft.com/office/drawing/2014/main" id="{BEA16C5A-B27C-43CB-8E30-DDB0A433BF13}"/>
              </a:ext>
            </a:extLst>
          </p:cNvPr>
          <p:cNvSpPr>
            <a:spLocks noGrp="1"/>
          </p:cNvSpPr>
          <p:nvPr/>
        </p:nvSpPr>
        <p:spPr>
          <a:xfrm>
            <a:off x="640080" y="1097280"/>
            <a:ext cx="10911535" cy="320040"/>
          </a:xfrm>
          <a:prstGeom prst="rect">
            <a:avLst/>
          </a:prstGeom>
          <a:noFill/>
        </p:spPr>
        <p:txBody>
          <a:bodyPr wrap="square" lIns="0" tIns="0" rIns="0" bIns="0" anchor="t"/>
          <a:lstStyle/>
          <a:p>
            <a:pPr marL="0" indent="0">
              <a:buNone/>
            </a:pPr>
            <a:r>
              <a:rPr sz="1600">
                <a:solidFill>
                  <a:srgbClr val="4A5A5E"/>
                </a:solidFill>
                <a:latin typeface="Arial"/>
                <a:ea typeface="Arial"/>
                <a:cs typeface="Arial"/>
              </a:rPr>
              <a:t>A Jira ticket is our example. Assay checks the proposal and asks a person when needed.</a:t>
            </a:r>
            <a:endParaRPr sz="1600"/>
          </a:p>
        </p:txBody>
      </p:sp>
      <p:sp>
        <p:nvSpPr>
          <p:cNvPr id="30" name="Text 28">
            <a:extLst>
              <a:ext uri="{FF2B5EF4-FFF2-40B4-BE49-F238E27FC236}">
                <a16:creationId xmlns:a16="http://schemas.microsoft.com/office/drawing/2014/main" id="{29A94722-DBD3-450C-854E-5F8F49042BF8}"/>
              </a:ext>
            </a:extLst>
          </p:cNvPr>
          <p:cNvSpPr>
            <a:spLocks noGrp="1"/>
          </p:cNvSpPr>
          <p:nvPr/>
        </p:nvSpPr>
        <p:spPr>
          <a:xfrm>
            <a:off x="640080" y="6355080"/>
            <a:ext cx="10911535" cy="274320"/>
          </a:xfrm>
          <a:prstGeom prst="rect">
            <a:avLst/>
          </a:prstGeom>
          <a:noFill/>
        </p:spPr>
        <p:txBody>
          <a:bodyPr wrap="square" lIns="0" tIns="0" rIns="0" bIns="0" anchor="t"/>
          <a:lstStyle/>
          <a:p>
            <a:pPr marL="0" indent="0">
              <a:buNone/>
            </a:pPr>
            <a:r>
              <a:rPr sz="1100">
                <a:solidFill>
                  <a:srgbClr val="5A6A6E"/>
                </a:solidFill>
                <a:latin typeface="Arial"/>
                <a:ea typeface="Arial"/>
                <a:cs typeface="Arial"/>
              </a:rPr>
              <a:t>Assay · Badger BuildFest 2026 · 4</a:t>
            </a:r>
            <a:endParaRPr sz="1100"/>
          </a:p>
        </p:txBody>
      </p:sp>
      <p:sp>
        <p:nvSpPr>
          <p:cNvPr id="31" name="37,853 public tickets. 13,687 maintainer link">
            <a:extLst>
              <a:ext uri="{FF2B5EF4-FFF2-40B4-BE49-F238E27FC236}">
                <a16:creationId xmlns:a16="http://schemas.microsoft.com/office/drawing/2014/main" id="{5CE5ECDA-A216-4A7C-A418-638E80C999D9}"/>
              </a:ext>
            </a:extLst>
          </p:cNvPr>
          <p:cNvSpPr>
            <a:spLocks noGrp="1"/>
          </p:cNvSpPr>
          <p:nvPr/>
        </p:nvSpPr>
        <p:spPr>
          <a:xfrm>
            <a:off x="640080" y="1571625"/>
            <a:ext cx="10906125" cy="285750"/>
          </a:xfrm>
          <a:prstGeom prst="rect">
            <a:avLst/>
          </a:prstGeom>
          <a:noFill/>
          <a:ln w="0">
            <a:noFill/>
          </a:ln>
        </p:spPr>
        <p:txBody>
          <a:bodyPr lIns="0" tIns="0" rIns="0" bIns="0">
            <a:noAutofit/>
          </a:bodyPr>
          <a:lstStyle/>
          <a:p>
            <a:pPr>
              <a:buNone/>
              <a:defRPr sz="1500" b="0">
                <a:solidFill>
                  <a:srgbClr val="4A5A5E"/>
                </a:solidFill>
                <a:latin typeface="Arial"/>
                <a:ea typeface="Arial"/>
                <a:cs typeface="Arial"/>
              </a:defRPr>
            </a:pPr>
            <a:r>
              <a:rPr sz="1500" b="0">
                <a:solidFill>
                  <a:srgbClr val="4A5A5E"/>
                </a:solidFill>
                <a:latin typeface="Arial"/>
                <a:ea typeface="Arial"/>
                <a:cs typeface="Arial"/>
              </a:rPr>
              <a:t>37,853 public tickets. 13,687 maintainer links to check the answers.</a:t>
            </a:r>
          </a:p>
        </p:txBody>
      </p:sp>
      <p:sp>
        <p:nvSpPr>
          <p:cNvPr id="32" name="1  A ticket arrives">
            <a:extLst>
              <a:ext uri="{FF2B5EF4-FFF2-40B4-BE49-F238E27FC236}">
                <a16:creationId xmlns:a16="http://schemas.microsoft.com/office/drawing/2014/main" id="{707E0748-BD35-43A5-9391-98FFF31221BA}"/>
              </a:ext>
            </a:extLst>
          </p:cNvPr>
          <p:cNvSpPr>
            <a:spLocks noGrp="1"/>
          </p:cNvSpPr>
          <p:nvPr/>
        </p:nvSpPr>
        <p:spPr>
          <a:xfrm>
            <a:off x="640080" y="2047875"/>
            <a:ext cx="2619375" cy="323850"/>
          </a:xfrm>
          <a:prstGeom prst="rect">
            <a:avLst/>
          </a:prstGeom>
          <a:noFill/>
          <a:ln w="0">
            <a:noFill/>
          </a:ln>
        </p:spPr>
        <p:txBody>
          <a:bodyPr lIns="0" tIns="0" rIns="0" bIns="0">
            <a:noAutofit/>
          </a:bodyPr>
          <a:lstStyle/>
          <a:p>
            <a:pPr>
              <a:buNone/>
              <a:defRPr sz="1800" b="1">
                <a:solidFill>
                  <a:srgbClr val="3A5BA0"/>
                </a:solidFill>
                <a:latin typeface="Arial"/>
                <a:ea typeface="Arial"/>
                <a:cs typeface="Arial"/>
              </a:defRPr>
            </a:pPr>
            <a:r>
              <a:rPr sz="1800" b="1">
                <a:solidFill>
                  <a:srgbClr val="3A5BA0"/>
                </a:solidFill>
                <a:latin typeface="Arial"/>
                <a:ea typeface="Arial"/>
                <a:cs typeface="Arial"/>
              </a:rPr>
              <a:t>1  A ticket arrives</a:t>
            </a:r>
          </a:p>
        </p:txBody>
      </p:sp>
      <p:sp>
        <p:nvSpPr>
          <p:cNvPr id="33" name="The agent reads the task">
            <a:extLst>
              <a:ext uri="{FF2B5EF4-FFF2-40B4-BE49-F238E27FC236}">
                <a16:creationId xmlns:a16="http://schemas.microsoft.com/office/drawing/2014/main" id="{10171E5D-5A53-484B-BA4E-2368F3B947CC}"/>
              </a:ext>
            </a:extLst>
          </p:cNvPr>
          <p:cNvSpPr>
            <a:spLocks noGrp="1"/>
          </p:cNvSpPr>
          <p:nvPr/>
        </p:nvSpPr>
        <p:spPr>
          <a:xfrm>
            <a:off x="640080" y="2409825"/>
            <a:ext cx="2619375" cy="276225"/>
          </a:xfrm>
          <a:prstGeom prst="rect">
            <a:avLst/>
          </a:prstGeom>
          <a:noFill/>
          <a:ln w="0">
            <a:noFill/>
          </a:ln>
        </p:spPr>
        <p:txBody>
          <a:bodyPr lIns="0" tIns="0" rIns="0" bIns="0">
            <a:noAutofit/>
          </a:bodyPr>
          <a:lstStyle/>
          <a:p>
            <a:pPr>
              <a:buNone/>
              <a:defRPr sz="1350" b="0">
                <a:solidFill>
                  <a:srgbClr val="4A5A5E"/>
                </a:solidFill>
                <a:latin typeface="Arial"/>
                <a:ea typeface="Arial"/>
                <a:cs typeface="Arial"/>
              </a:defRPr>
            </a:pPr>
            <a:r>
              <a:rPr sz="1350" b="0">
                <a:solidFill>
                  <a:srgbClr val="4A5A5E"/>
                </a:solidFill>
                <a:latin typeface="Arial"/>
                <a:ea typeface="Arial"/>
                <a:cs typeface="Arial"/>
              </a:rPr>
              <a:t>The agent reads the task</a:t>
            </a:r>
          </a:p>
        </p:txBody>
      </p:sp>
      <p:sp>
        <p:nvSpPr>
          <p:cNvPr id="34" name="2  A model suggests">
            <a:extLst>
              <a:ext uri="{FF2B5EF4-FFF2-40B4-BE49-F238E27FC236}">
                <a16:creationId xmlns:a16="http://schemas.microsoft.com/office/drawing/2014/main" id="{05CE4485-CCEA-4568-B217-EFC64545C978}"/>
              </a:ext>
            </a:extLst>
          </p:cNvPr>
          <p:cNvSpPr>
            <a:spLocks noGrp="1"/>
          </p:cNvSpPr>
          <p:nvPr/>
        </p:nvSpPr>
        <p:spPr>
          <a:xfrm>
            <a:off x="3402330" y="2047875"/>
            <a:ext cx="2619375" cy="323850"/>
          </a:xfrm>
          <a:prstGeom prst="rect">
            <a:avLst/>
          </a:prstGeom>
          <a:noFill/>
          <a:ln w="0">
            <a:noFill/>
          </a:ln>
        </p:spPr>
        <p:txBody>
          <a:bodyPr lIns="0" tIns="0" rIns="0" bIns="0">
            <a:noAutofit/>
          </a:bodyPr>
          <a:lstStyle/>
          <a:p>
            <a:pPr>
              <a:buNone/>
              <a:defRPr sz="1800" b="1">
                <a:solidFill>
                  <a:srgbClr val="3A5BA0"/>
                </a:solidFill>
                <a:latin typeface="Arial"/>
                <a:ea typeface="Arial"/>
                <a:cs typeface="Arial"/>
              </a:defRPr>
            </a:pPr>
            <a:r>
              <a:rPr sz="1800" b="1">
                <a:solidFill>
                  <a:srgbClr val="3A5BA0"/>
                </a:solidFill>
                <a:latin typeface="Arial"/>
                <a:ea typeface="Arial"/>
                <a:cs typeface="Arial"/>
              </a:rPr>
              <a:t>2  A model suggests</a:t>
            </a:r>
          </a:p>
        </p:txBody>
      </p:sp>
      <p:sp>
        <p:nvSpPr>
          <p:cNvPr id="35" name="A link to an earlier ticket">
            <a:extLst>
              <a:ext uri="{FF2B5EF4-FFF2-40B4-BE49-F238E27FC236}">
                <a16:creationId xmlns:a16="http://schemas.microsoft.com/office/drawing/2014/main" id="{FD382253-5F09-43DC-94A2-73C307BC74FD}"/>
              </a:ext>
            </a:extLst>
          </p:cNvPr>
          <p:cNvSpPr>
            <a:spLocks noGrp="1"/>
          </p:cNvSpPr>
          <p:nvPr/>
        </p:nvSpPr>
        <p:spPr>
          <a:xfrm>
            <a:off x="3402330" y="2409825"/>
            <a:ext cx="2619375" cy="276225"/>
          </a:xfrm>
          <a:prstGeom prst="rect">
            <a:avLst/>
          </a:prstGeom>
          <a:noFill/>
          <a:ln w="0">
            <a:noFill/>
          </a:ln>
        </p:spPr>
        <p:txBody>
          <a:bodyPr lIns="0" tIns="0" rIns="0" bIns="0">
            <a:noAutofit/>
          </a:bodyPr>
          <a:lstStyle/>
          <a:p>
            <a:pPr>
              <a:buNone/>
              <a:defRPr sz="1350" b="0">
                <a:solidFill>
                  <a:srgbClr val="4A5A5E"/>
                </a:solidFill>
                <a:latin typeface="Arial"/>
                <a:ea typeface="Arial"/>
                <a:cs typeface="Arial"/>
              </a:defRPr>
            </a:pPr>
            <a:r>
              <a:rPr sz="1350" b="0">
                <a:solidFill>
                  <a:srgbClr val="4A5A5E"/>
                </a:solidFill>
                <a:latin typeface="Arial"/>
                <a:ea typeface="Arial"/>
                <a:cs typeface="Arial"/>
              </a:rPr>
              <a:t>A link to an earlier ticket</a:t>
            </a:r>
          </a:p>
        </p:txBody>
      </p:sp>
      <p:sp>
        <p:nvSpPr>
          <p:cNvPr id="36" name="3  Assay checks">
            <a:extLst>
              <a:ext uri="{FF2B5EF4-FFF2-40B4-BE49-F238E27FC236}">
                <a16:creationId xmlns:a16="http://schemas.microsoft.com/office/drawing/2014/main" id="{69F299CE-EE66-4527-8ABF-B784560DDFDE}"/>
              </a:ext>
            </a:extLst>
          </p:cNvPr>
          <p:cNvSpPr>
            <a:spLocks noGrp="1"/>
          </p:cNvSpPr>
          <p:nvPr/>
        </p:nvSpPr>
        <p:spPr>
          <a:xfrm>
            <a:off x="6164580" y="2047875"/>
            <a:ext cx="2619375" cy="323850"/>
          </a:xfrm>
          <a:prstGeom prst="rect">
            <a:avLst/>
          </a:prstGeom>
          <a:noFill/>
          <a:ln w="0">
            <a:noFill/>
          </a:ln>
        </p:spPr>
        <p:txBody>
          <a:bodyPr lIns="0" tIns="0" rIns="0" bIns="0">
            <a:noAutofit/>
          </a:bodyPr>
          <a:lstStyle/>
          <a:p>
            <a:pPr>
              <a:buNone/>
              <a:defRPr sz="1800" b="1">
                <a:solidFill>
                  <a:srgbClr val="3A5BA0"/>
                </a:solidFill>
                <a:latin typeface="Arial"/>
                <a:ea typeface="Arial"/>
                <a:cs typeface="Arial"/>
              </a:defRPr>
            </a:pPr>
            <a:r>
              <a:rPr sz="1800" b="1">
                <a:solidFill>
                  <a:srgbClr val="3A5BA0"/>
                </a:solidFill>
                <a:latin typeface="Arial"/>
                <a:ea typeface="Arial"/>
                <a:cs typeface="Arial"/>
              </a:rPr>
              <a:t>3  Assay checks</a:t>
            </a:r>
          </a:p>
        </p:txBody>
      </p:sp>
      <p:sp>
        <p:nvSpPr>
          <p:cNvPr id="37" name="Evidence sets the limits">
            <a:extLst>
              <a:ext uri="{FF2B5EF4-FFF2-40B4-BE49-F238E27FC236}">
                <a16:creationId xmlns:a16="http://schemas.microsoft.com/office/drawing/2014/main" id="{E9E52BA5-B36C-47AE-9A78-E61B047A9A72}"/>
              </a:ext>
            </a:extLst>
          </p:cNvPr>
          <p:cNvSpPr>
            <a:spLocks noGrp="1"/>
          </p:cNvSpPr>
          <p:nvPr/>
        </p:nvSpPr>
        <p:spPr>
          <a:xfrm>
            <a:off x="6164580" y="2409825"/>
            <a:ext cx="2619375" cy="276225"/>
          </a:xfrm>
          <a:prstGeom prst="rect">
            <a:avLst/>
          </a:prstGeom>
          <a:noFill/>
          <a:ln w="0">
            <a:noFill/>
          </a:ln>
        </p:spPr>
        <p:txBody>
          <a:bodyPr lIns="0" tIns="0" rIns="0" bIns="0">
            <a:noAutofit/>
          </a:bodyPr>
          <a:lstStyle/>
          <a:p>
            <a:pPr>
              <a:buNone/>
              <a:defRPr sz="1350" b="0">
                <a:solidFill>
                  <a:srgbClr val="4A5A5E"/>
                </a:solidFill>
                <a:latin typeface="Arial"/>
                <a:ea typeface="Arial"/>
                <a:cs typeface="Arial"/>
              </a:defRPr>
            </a:pPr>
            <a:r>
              <a:rPr sz="1350" b="0">
                <a:solidFill>
                  <a:srgbClr val="4A5A5E"/>
                </a:solidFill>
                <a:latin typeface="Arial"/>
                <a:ea typeface="Arial"/>
                <a:cs typeface="Arial"/>
              </a:rPr>
              <a:t>Evidence sets the limits</a:t>
            </a:r>
          </a:p>
        </p:txBody>
      </p:sp>
      <p:sp>
        <p:nvSpPr>
          <p:cNvPr id="38" name="4  A person decides">
            <a:extLst>
              <a:ext uri="{FF2B5EF4-FFF2-40B4-BE49-F238E27FC236}">
                <a16:creationId xmlns:a16="http://schemas.microsoft.com/office/drawing/2014/main" id="{218B334A-4EE5-4DB3-935A-82778708DABC}"/>
              </a:ext>
            </a:extLst>
          </p:cNvPr>
          <p:cNvSpPr>
            <a:spLocks noGrp="1"/>
          </p:cNvSpPr>
          <p:nvPr/>
        </p:nvSpPr>
        <p:spPr>
          <a:xfrm>
            <a:off x="8926830" y="2047875"/>
            <a:ext cx="2619375" cy="323850"/>
          </a:xfrm>
          <a:prstGeom prst="rect">
            <a:avLst/>
          </a:prstGeom>
          <a:noFill/>
          <a:ln w="0">
            <a:noFill/>
          </a:ln>
        </p:spPr>
        <p:txBody>
          <a:bodyPr lIns="0" tIns="0" rIns="0" bIns="0">
            <a:noAutofit/>
          </a:bodyPr>
          <a:lstStyle/>
          <a:p>
            <a:pPr>
              <a:buNone/>
              <a:defRPr sz="1800" b="1">
                <a:solidFill>
                  <a:srgbClr val="3A5BA0"/>
                </a:solidFill>
                <a:latin typeface="Arial"/>
                <a:ea typeface="Arial"/>
                <a:cs typeface="Arial"/>
              </a:defRPr>
            </a:pPr>
            <a:r>
              <a:rPr sz="1800" b="1">
                <a:solidFill>
                  <a:srgbClr val="3A5BA0"/>
                </a:solidFill>
                <a:latin typeface="Arial"/>
                <a:ea typeface="Arial"/>
                <a:cs typeface="Arial"/>
              </a:rPr>
              <a:t>4  A person decides</a:t>
            </a:r>
          </a:p>
        </p:txBody>
      </p:sp>
      <p:sp>
        <p:nvSpPr>
          <p:cNvPr id="39" name="Each answer becomes evidence">
            <a:extLst>
              <a:ext uri="{FF2B5EF4-FFF2-40B4-BE49-F238E27FC236}">
                <a16:creationId xmlns:a16="http://schemas.microsoft.com/office/drawing/2014/main" id="{EC50980C-2248-451E-8774-B49772CCEC7E}"/>
              </a:ext>
            </a:extLst>
          </p:cNvPr>
          <p:cNvSpPr>
            <a:spLocks noGrp="1"/>
          </p:cNvSpPr>
          <p:nvPr/>
        </p:nvSpPr>
        <p:spPr>
          <a:xfrm>
            <a:off x="8926830" y="2409825"/>
            <a:ext cx="2619375" cy="276225"/>
          </a:xfrm>
          <a:prstGeom prst="rect">
            <a:avLst/>
          </a:prstGeom>
          <a:noFill/>
          <a:ln w="0">
            <a:noFill/>
          </a:ln>
        </p:spPr>
        <p:txBody>
          <a:bodyPr lIns="0" tIns="0" rIns="0" bIns="0">
            <a:noAutofit/>
          </a:bodyPr>
          <a:lstStyle/>
          <a:p>
            <a:pPr>
              <a:buNone/>
              <a:defRPr sz="1350" b="0">
                <a:solidFill>
                  <a:srgbClr val="4A5A5E"/>
                </a:solidFill>
                <a:latin typeface="Arial"/>
                <a:ea typeface="Arial"/>
                <a:cs typeface="Arial"/>
              </a:defRPr>
            </a:pPr>
            <a:r>
              <a:rPr sz="1350" b="0">
                <a:solidFill>
                  <a:srgbClr val="4A5A5E"/>
                </a:solidFill>
                <a:latin typeface="Arial"/>
                <a:ea typeface="Arial"/>
                <a:cs typeface="Arial"/>
              </a:rPr>
              <a:t>Each answer becomes evidence</a:t>
            </a:r>
          </a:p>
        </p:txBody>
      </p:sp>
      <p:pic>
        <p:nvPicPr>
          <p:cNvPr id="53" name="Picture 52"/>
          <p:cNvPicPr>
            <a:picLocks noChangeAspect="1"/>
          </p:cNvPicPr>
          <p:nvPr/>
        </p:nvPicPr>
        <p:blipFill>
          <a:blip r:embed="rId3"/>
          <a:stretch/>
        </p:blipFill>
        <p:spPr>
          <a:xfrm>
            <a:off x="877116" y="2857500"/>
            <a:ext cx="10437482" cy="3267075"/>
          </a:xfrm>
          <a:prstGeom prst="rect">
            <a:avLst/>
          </a:prstGeom>
        </p:spPr>
      </p:pic>
    </p:spTree>
    <p:extLst>
      <p:ext uri="{BB962C8B-B14F-4D97-AF65-F5344CB8AC3E}">
        <p14:creationId xmlns:p14="http://schemas.microsoft.com/office/powerpoint/2010/main" val="751054517"/>
      </p:ext>
    </p:extLst>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E5BA1A7-CC7E-4160-857D-C7AE84E56986}"/>
              </a:ext>
            </a:extLst>
          </p:cNvPr>
          <p:cNvSpPr>
            <a:spLocks noGrp="1"/>
          </p:cNvSpPr>
          <p:nvPr/>
        </p:nvSpPr>
        <p:spPr>
          <a:xfrm>
            <a:off x="640080" y="502920"/>
            <a:ext cx="10911554" cy="571500"/>
          </a:xfrm>
          <a:prstGeom prst="rect">
            <a:avLst/>
          </a:prstGeom>
          <a:noFill/>
          <a:ln w="0">
            <a:noFill/>
          </a:ln>
        </p:spPr>
        <p:txBody>
          <a:bodyPr lIns="0" tIns="0" rIns="0" bIns="0"/>
          <a:lstStyle/>
          <a:p>
            <a:pPr>
              <a:buNone/>
              <a:defRPr sz="3300" b="1">
                <a:solidFill>
                  <a:srgbClr val="14232A"/>
                </a:solidFill>
                <a:latin typeface="Arial"/>
                <a:ea typeface="Arial"/>
                <a:cs typeface="Arial"/>
              </a:defRPr>
            </a:pPr>
            <a:r>
              <a:rPr sz="3300" b="1">
                <a:solidFill>
                  <a:srgbClr val="14232A"/>
                </a:solidFill>
                <a:latin typeface="Arial"/>
                <a:ea typeface="Arial"/>
                <a:cs typeface="Arial"/>
              </a:rPr>
              <a:t>Model cost and precision</a:t>
            </a:r>
          </a:p>
        </p:txBody>
      </p:sp>
      <p:pic>
        <p:nvPicPr>
          <p:cNvPr id="7" name="Picture 6"/>
          <p:cNvPicPr>
            <a:picLocks noChangeAspect="1"/>
          </p:cNvPicPr>
          <p:nvPr/>
        </p:nvPicPr>
        <p:blipFill>
          <a:blip r:embed="rId3"/>
          <a:stretch/>
        </p:blipFill>
        <p:spPr>
          <a:xfrm>
            <a:off x="645587" y="1181100"/>
            <a:ext cx="10900540" cy="5019675"/>
          </a:xfrm>
          <a:prstGeom prst="rect">
            <a:avLst/>
          </a:prstGeom>
        </p:spPr>
      </p:pic>
      <p:sp>
        <p:nvSpPr>
          <p:cNvPr id="3" name="Rectangle 2">
            <a:extLst>
              <a:ext uri="{FF2B5EF4-FFF2-40B4-BE49-F238E27FC236}">
                <a16:creationId xmlns:a16="http://schemas.microsoft.com/office/drawing/2014/main" id="{69E28FEC-0C86-4270-ACF1-79AEDCEA0A0A}"/>
              </a:ext>
            </a:extLst>
          </p:cNvPr>
          <p:cNvSpPr>
            <a:spLocks noGrp="1"/>
          </p:cNvSpPr>
          <p:nvPr/>
        </p:nvSpPr>
        <p:spPr>
          <a:xfrm>
            <a:off x="640080" y="6355080"/>
            <a:ext cx="10911554" cy="274320"/>
          </a:xfrm>
          <a:prstGeom prst="rect">
            <a:avLst/>
          </a:prstGeom>
          <a:noFill/>
          <a:ln w="0">
            <a:noFill/>
          </a:ln>
        </p:spPr>
        <p:txBody>
          <a:bodyPr lIns="0" tIns="0" rIns="0" bIns="0"/>
          <a:lstStyle/>
          <a:p>
            <a:pPr>
              <a:buNone/>
              <a:defRPr sz="1050">
                <a:solidFill>
                  <a:srgbClr val="4A5A5E"/>
                </a:solidFill>
                <a:latin typeface="Arial"/>
                <a:ea typeface="Arial"/>
                <a:cs typeface="Arial"/>
              </a:defRPr>
            </a:pPr>
            <a:r>
              <a:rPr sz="1050">
                <a:solidFill>
                  <a:srgbClr val="4A5A5E"/>
                </a:solidFill>
                <a:latin typeface="Arial"/>
                <a:ea typeface="Arial"/>
                <a:cs typeface="Arial"/>
              </a:rPr>
              <a:t>Assay · Badger BuildFest 2026 · 5</a:t>
            </a:r>
          </a:p>
        </p:txBody>
      </p:sp>
    </p:spTree>
    <p:extLst>
      <p:ext uri="{BB962C8B-B14F-4D97-AF65-F5344CB8AC3E}">
        <p14:creationId xmlns:p14="http://schemas.microsoft.com/office/powerpoint/2010/main" val="1028794934"/>
      </p:ext>
    </p:extLst>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F759C438-0625-4EB5-ABAE-83EDBEFD50F7}"/>
              </a:ext>
            </a:extLst>
          </p:cNvPr>
          <p:cNvSpPr>
            <a:spLocks noGrp="1"/>
          </p:cNvSpPr>
          <p:nvPr/>
        </p:nvSpPr>
        <p:spPr>
          <a:xfrm>
            <a:off x="640079" y="502920"/>
            <a:ext cx="10911535" cy="566928"/>
          </a:xfrm>
          <a:prstGeom prst="rect">
            <a:avLst/>
          </a:prstGeom>
          <a:noFill/>
        </p:spPr>
        <p:txBody>
          <a:bodyPr wrap="square" lIns="0" tIns="0" rIns="0" bIns="0" anchor="t"/>
          <a:lstStyle/>
          <a:p>
            <a:pPr marL="0" indent="0">
              <a:buNone/>
            </a:pPr>
            <a:r>
              <a:rPr sz="3200" b="1">
                <a:solidFill>
                  <a:srgbClr val="14232A"/>
                </a:solidFill>
                <a:latin typeface="Arial"/>
                <a:ea typeface="Arial"/>
                <a:cs typeface="Arial"/>
              </a:rPr>
              <a:t>Measured cost. Evidence-based control.</a:t>
            </a:r>
            <a:endParaRPr sz="3200"/>
          </a:p>
        </p:txBody>
      </p:sp>
      <p:sp>
        <p:nvSpPr>
          <p:cNvPr id="3" name="Text 1">
            <a:extLst>
              <a:ext uri="{FF2B5EF4-FFF2-40B4-BE49-F238E27FC236}">
                <a16:creationId xmlns:a16="http://schemas.microsoft.com/office/drawing/2014/main" id="{B24295FA-60E3-4248-889F-BF2A65DB8877}"/>
              </a:ext>
            </a:extLst>
          </p:cNvPr>
          <p:cNvSpPr>
            <a:spLocks noGrp="1"/>
          </p:cNvSpPr>
          <p:nvPr/>
        </p:nvSpPr>
        <p:spPr>
          <a:xfrm>
            <a:off x="640080" y="1097280"/>
            <a:ext cx="10911554" cy="571500"/>
          </a:xfrm>
          <a:prstGeom prst="rect">
            <a:avLst/>
          </a:prstGeom>
          <a:noFill/>
        </p:spPr>
        <p:txBody>
          <a:bodyPr wrap="square" lIns="0" tIns="0" rIns="0" bIns="0" anchor="t"/>
          <a:lstStyle/>
          <a:p>
            <a:pPr marL="0" indent="0">
              <a:buNone/>
            </a:pPr>
            <a:r>
              <a:rPr sz="1600">
                <a:solidFill>
                  <a:srgbClr val="4A5A5E"/>
                </a:solidFill>
                <a:latin typeface="Arial"/>
                <a:ea typeface="Arial"/>
                <a:cs typeface="Arial"/>
              </a:rPr>
              <a:t>Unity Catalog stores evidence. Foundation Models answer. Databricks Apps hosts the dashboard.</a:t>
            </a:r>
          </a:p>
        </p:txBody>
      </p:sp>
      <p:sp>
        <p:nvSpPr>
          <p:cNvPr id="18" name="Text 15">
            <a:extLst>
              <a:ext uri="{FF2B5EF4-FFF2-40B4-BE49-F238E27FC236}">
                <a16:creationId xmlns:a16="http://schemas.microsoft.com/office/drawing/2014/main" id="{793503A9-CFE2-4D25-B0E5-26EF9C5CBA14}"/>
              </a:ext>
            </a:extLst>
          </p:cNvPr>
          <p:cNvSpPr>
            <a:spLocks noGrp="1"/>
          </p:cNvSpPr>
          <p:nvPr/>
        </p:nvSpPr>
        <p:spPr>
          <a:xfrm>
            <a:off x="640080" y="6355080"/>
            <a:ext cx="10911535" cy="274320"/>
          </a:xfrm>
          <a:prstGeom prst="rect">
            <a:avLst/>
          </a:prstGeom>
          <a:noFill/>
        </p:spPr>
        <p:txBody>
          <a:bodyPr wrap="square" lIns="0" tIns="0" rIns="0" bIns="0" anchor="t"/>
          <a:lstStyle/>
          <a:p>
            <a:pPr marL="0" indent="0">
              <a:buNone/>
            </a:pPr>
            <a:r>
              <a:rPr sz="1100">
                <a:solidFill>
                  <a:srgbClr val="5A6A6E"/>
                </a:solidFill>
                <a:latin typeface="Arial"/>
                <a:ea typeface="Arial"/>
                <a:cs typeface="Arial"/>
              </a:rPr>
              <a:t>Assay · Badger BuildFest 2026 · 6</a:t>
            </a:r>
            <a:endParaRPr sz="1100"/>
          </a:p>
        </p:txBody>
      </p:sp>
      <p:pic>
        <p:nvPicPr>
          <p:cNvPr id="25" name="Picture 24"/>
          <p:cNvPicPr>
            <a:picLocks noChangeAspect="1"/>
          </p:cNvPicPr>
          <p:nvPr/>
        </p:nvPicPr>
        <p:blipFill>
          <a:blip r:embed="rId3"/>
          <a:stretch/>
        </p:blipFill>
        <p:spPr>
          <a:xfrm>
            <a:off x="640080" y="1838925"/>
            <a:ext cx="10911554" cy="4208849"/>
          </a:xfrm>
          <a:prstGeom prst="rect">
            <a:avLst/>
          </a:prstGeom>
        </p:spPr>
      </p:pic>
      <p:sp>
        <p:nvSpPr>
          <p:cNvPr id="20" name="Estimates use list prices and an assumed $0.0">
            <a:extLst>
              <a:ext uri="{FF2B5EF4-FFF2-40B4-BE49-F238E27FC236}">
                <a16:creationId xmlns:a16="http://schemas.microsoft.com/office/drawing/2014/main" id="{293BEA34-D975-4014-B40C-FA1278CD0628}"/>
              </a:ext>
            </a:extLst>
          </p:cNvPr>
          <p:cNvSpPr>
            <a:spLocks noGrp="1"/>
          </p:cNvSpPr>
          <p:nvPr/>
        </p:nvSpPr>
        <p:spPr>
          <a:xfrm>
            <a:off x="640080" y="6115050"/>
            <a:ext cx="10906125" cy="228600"/>
          </a:xfrm>
          <a:prstGeom prst="rect">
            <a:avLst/>
          </a:prstGeom>
          <a:noFill/>
          <a:ln w="0">
            <a:noFill/>
          </a:ln>
        </p:spPr>
        <p:txBody>
          <a:bodyPr lIns="0" tIns="0" rIns="0" bIns="0">
            <a:noAutofit/>
          </a:bodyPr>
          <a:lstStyle/>
          <a:p>
            <a:pPr>
              <a:buNone/>
              <a:defRPr sz="1275" b="0">
                <a:solidFill>
                  <a:srgbClr val="4A5A5E"/>
                </a:solidFill>
                <a:latin typeface="Arial"/>
                <a:ea typeface="Arial"/>
                <a:cs typeface="Arial"/>
              </a:defRPr>
            </a:pPr>
            <a:r>
              <a:rPr sz="1275" b="0">
                <a:solidFill>
                  <a:srgbClr val="4A5A5E"/>
                </a:solidFill>
                <a:latin typeface="Arial"/>
                <a:ea typeface="Arial"/>
                <a:cs typeface="Arial"/>
              </a:rPr>
              <a:t>Estimates use list prices and an assumed $0.07 per DBU. Actual Free Edition spend: $0.</a:t>
            </a:r>
          </a:p>
        </p:txBody>
      </p:sp>
    </p:spTree>
    <p:extLst>
      <p:ext uri="{BB962C8B-B14F-4D97-AF65-F5344CB8AC3E}">
        <p14:creationId xmlns:p14="http://schemas.microsoft.com/office/powerpoint/2010/main" val="1501871759"/>
      </p:ext>
    </p:extLst>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Shape 5">
            <a:extLst>
              <a:ext uri="{FF2B5EF4-FFF2-40B4-BE49-F238E27FC236}">
                <a16:creationId xmlns:a16="http://schemas.microsoft.com/office/drawing/2014/main" id="{7A6FC509-92CA-406D-90B6-F7F225F86BB6}"/>
              </a:ext>
            </a:extLst>
          </p:cNvPr>
          <p:cNvSpPr>
            <a:spLocks noGrp="1"/>
          </p:cNvSpPr>
          <p:nvPr/>
        </p:nvSpPr>
        <p:spPr>
          <a:xfrm>
            <a:off x="8321040" y="1417320"/>
            <a:ext cx="3230575" cy="3611880"/>
          </a:xfrm>
          <a:prstGeom prst="roundRect">
            <a:avLst>
              <a:gd name="adj" fmla="val 3397"/>
            </a:avLst>
          </a:prstGeom>
          <a:solidFill>
            <a:srgbClr val="FFFFFF"/>
          </a:solidFill>
          <a:ln w="12700">
            <a:solidFill>
              <a:srgbClr val="D5DCD3"/>
            </a:solidFill>
            <a:prstDash val="solid"/>
          </a:ln>
        </p:spPr>
        <p:txBody>
          <a:bodyPr/>
          <a:lstStyle/>
          <a:p>
            <a:endParaRPr/>
          </a:p>
        </p:txBody>
      </p:sp>
      <p:pic>
        <p:nvPicPr>
          <p:cNvPr id="33" name="Image 0"/>
          <p:cNvPicPr>
            <a:picLocks noChangeAspect="1"/>
          </p:cNvPicPr>
          <p:nvPr/>
        </p:nvPicPr>
        <p:blipFill>
          <a:blip r:embed="rId3"/>
          <a:stretch>
            <a:fillRect/>
          </a:stretch>
        </p:blipFill>
        <p:spPr>
          <a:xfrm>
            <a:off x="8793328" y="1645920"/>
            <a:ext cx="2286000" cy="2286000"/>
          </a:xfrm>
          <a:prstGeom prst="rect">
            <a:avLst/>
          </a:prstGeom>
        </p:spPr>
      </p:pic>
      <p:sp>
        <p:nvSpPr>
          <p:cNvPr id="21" name="The team and what comes next">
            <a:extLst>
              <a:ext uri="{FF2B5EF4-FFF2-40B4-BE49-F238E27FC236}">
                <a16:creationId xmlns:a16="http://schemas.microsoft.com/office/drawing/2014/main" id="{6A5CB52E-B680-416D-9DEA-E3BFF85EE6C4}"/>
              </a:ext>
            </a:extLst>
          </p:cNvPr>
          <p:cNvSpPr>
            <a:spLocks noGrp="1"/>
          </p:cNvSpPr>
          <p:nvPr/>
        </p:nvSpPr>
        <p:spPr>
          <a:xfrm>
            <a:off x="640080" y="502920"/>
            <a:ext cx="10911554" cy="571500"/>
          </a:xfrm>
          <a:prstGeom prst="rect">
            <a:avLst/>
          </a:prstGeom>
          <a:noFill/>
          <a:ln w="0">
            <a:noFill/>
          </a:ln>
        </p:spPr>
        <p:txBody>
          <a:bodyPr lIns="0" tIns="0" rIns="0" bIns="0">
            <a:noAutofit/>
          </a:bodyPr>
          <a:lstStyle/>
          <a:p>
            <a:pPr>
              <a:buNone/>
              <a:defRPr sz="3300" b="1">
                <a:solidFill>
                  <a:srgbClr val="14232A"/>
                </a:solidFill>
                <a:latin typeface="Arial"/>
                <a:ea typeface="Arial"/>
                <a:cs typeface="Arial"/>
              </a:defRPr>
            </a:pPr>
            <a:r>
              <a:rPr sz="3300" b="1">
                <a:solidFill>
                  <a:srgbClr val="14232A"/>
                </a:solidFill>
                <a:latin typeface="Arial"/>
                <a:ea typeface="Arial"/>
                <a:cs typeface="Arial"/>
              </a:rPr>
              <a:t>The team and what comes next</a:t>
            </a:r>
          </a:p>
        </p:txBody>
      </p:sp>
      <p:sp>
        <p:nvSpPr>
          <p:cNvPr id="22" name="Ananda, Mohith Nikesh and Soham Vazirani">
            <a:extLst>
              <a:ext uri="{FF2B5EF4-FFF2-40B4-BE49-F238E27FC236}">
                <a16:creationId xmlns:a16="http://schemas.microsoft.com/office/drawing/2014/main" id="{A8DEF2E8-50FD-4A2F-A2B0-F792E3DE2F90}"/>
              </a:ext>
            </a:extLst>
          </p:cNvPr>
          <p:cNvSpPr>
            <a:spLocks noGrp="1"/>
          </p:cNvSpPr>
          <p:nvPr/>
        </p:nvSpPr>
        <p:spPr>
          <a:xfrm>
            <a:off x="640080" y="1457325"/>
            <a:ext cx="7191375" cy="419100"/>
          </a:xfrm>
          <a:prstGeom prst="rect">
            <a:avLst/>
          </a:prstGeom>
          <a:noFill/>
          <a:ln w="0">
            <a:noFill/>
          </a:ln>
        </p:spPr>
        <p:txBody>
          <a:bodyPr lIns="0" tIns="0" rIns="0" bIns="0">
            <a:noAutofit/>
          </a:bodyPr>
          <a:lstStyle/>
          <a:p>
            <a:pPr>
              <a:buNone/>
              <a:defRPr sz="2175" b="1">
                <a:solidFill>
                  <a:srgbClr val="14232A"/>
                </a:solidFill>
                <a:latin typeface="Arial"/>
                <a:ea typeface="Arial"/>
                <a:cs typeface="Arial"/>
              </a:defRPr>
            </a:pPr>
            <a:r>
              <a:rPr sz="2175" b="1">
                <a:solidFill>
                  <a:srgbClr val="14232A"/>
                </a:solidFill>
                <a:latin typeface="Arial"/>
                <a:ea typeface="Arial"/>
                <a:cs typeface="Arial"/>
              </a:rPr>
              <a:t>Ananda</a:t>
            </a:r>
            <a:r>
              <a:rPr lang="en-US" sz="2175" b="1">
                <a:solidFill>
                  <a:srgbClr val="14232A"/>
                </a:solidFill>
                <a:latin typeface="Arial"/>
                <a:ea typeface="Arial"/>
                <a:cs typeface="Arial"/>
              </a:rPr>
              <a:t> GP</a:t>
            </a:r>
            <a:r>
              <a:rPr sz="2175" b="1">
                <a:solidFill>
                  <a:srgbClr val="14232A"/>
                </a:solidFill>
                <a:latin typeface="Arial"/>
                <a:ea typeface="Arial"/>
                <a:cs typeface="Arial"/>
              </a:rPr>
              <a:t>, </a:t>
            </a:r>
            <a:r>
              <a:rPr sz="2175" b="1" dirty="0">
                <a:solidFill>
                  <a:srgbClr val="14232A"/>
                </a:solidFill>
                <a:latin typeface="Arial"/>
                <a:ea typeface="Arial"/>
                <a:cs typeface="Arial"/>
              </a:rPr>
              <a:t>Mohith Nikesh and Soham Vazirani</a:t>
            </a:r>
          </a:p>
        </p:txBody>
      </p:sp>
      <p:sp>
        <p:nvSpPr>
          <p:cNvPr id="23" name="We built the agent, evidence engine and Datab">
            <a:extLst>
              <a:ext uri="{FF2B5EF4-FFF2-40B4-BE49-F238E27FC236}">
                <a16:creationId xmlns:a16="http://schemas.microsoft.com/office/drawing/2014/main" id="{E62B9816-A32F-42CC-A717-BAB1143BA03B}"/>
              </a:ext>
            </a:extLst>
          </p:cNvPr>
          <p:cNvSpPr>
            <a:spLocks noGrp="1"/>
          </p:cNvSpPr>
          <p:nvPr/>
        </p:nvSpPr>
        <p:spPr>
          <a:xfrm>
            <a:off x="640080" y="1952625"/>
            <a:ext cx="7191375" cy="714375"/>
          </a:xfrm>
          <a:prstGeom prst="rect">
            <a:avLst/>
          </a:prstGeom>
          <a:noFill/>
          <a:ln w="0">
            <a:noFill/>
          </a:ln>
        </p:spPr>
        <p:txBody>
          <a:bodyPr lIns="0" tIns="0" rIns="0" bIns="0">
            <a:noAutofit/>
          </a:bodyPr>
          <a:lstStyle/>
          <a:p>
            <a:pPr>
              <a:buNone/>
              <a:defRPr sz="1875" b="0">
                <a:solidFill>
                  <a:srgbClr val="4A5A5E"/>
                </a:solidFill>
                <a:latin typeface="Arial"/>
                <a:ea typeface="Arial"/>
                <a:cs typeface="Arial"/>
              </a:defRPr>
            </a:pPr>
            <a:r>
              <a:rPr sz="1875" b="0">
                <a:solidFill>
                  <a:srgbClr val="4A5A5E"/>
                </a:solidFill>
                <a:latin typeface="Arial"/>
                <a:ea typeface="Arial"/>
                <a:cs typeface="Arial"/>
              </a:rPr>
              <a:t>We built the agent, evidence engine and Databricks dashboard, then tested eight models against real outcomes.</a:t>
            </a:r>
          </a:p>
        </p:txBody>
      </p:sp>
      <p:sp>
        <p:nvSpPr>
          <p:cNvPr id="24" name="Proposed next 6–12 months">
            <a:extLst>
              <a:ext uri="{FF2B5EF4-FFF2-40B4-BE49-F238E27FC236}">
                <a16:creationId xmlns:a16="http://schemas.microsoft.com/office/drawing/2014/main" id="{894EC626-BBB0-4719-BC43-CA17650F0930}"/>
              </a:ext>
            </a:extLst>
          </p:cNvPr>
          <p:cNvSpPr>
            <a:spLocks noGrp="1"/>
          </p:cNvSpPr>
          <p:nvPr/>
        </p:nvSpPr>
        <p:spPr>
          <a:xfrm>
            <a:off x="640080" y="3076575"/>
            <a:ext cx="7191375" cy="381000"/>
          </a:xfrm>
          <a:prstGeom prst="rect">
            <a:avLst/>
          </a:prstGeom>
          <a:noFill/>
          <a:ln w="0">
            <a:noFill/>
          </a:ln>
        </p:spPr>
        <p:txBody>
          <a:bodyPr lIns="0" tIns="0" rIns="0" bIns="0">
            <a:noAutofit/>
          </a:bodyPr>
          <a:lstStyle/>
          <a:p>
            <a:pPr>
              <a:buNone/>
              <a:defRPr sz="2175" b="1">
                <a:solidFill>
                  <a:srgbClr val="3A5BA0"/>
                </a:solidFill>
                <a:latin typeface="Arial"/>
                <a:ea typeface="Arial"/>
                <a:cs typeface="Arial"/>
              </a:defRPr>
            </a:pPr>
            <a:r>
              <a:rPr sz="2175" b="1">
                <a:solidFill>
                  <a:srgbClr val="3A5BA0"/>
                </a:solidFill>
                <a:latin typeface="Arial"/>
                <a:ea typeface="Arial"/>
                <a:cs typeface="Arial"/>
              </a:rPr>
              <a:t>Proposed next 6–12 months</a:t>
            </a:r>
          </a:p>
        </p:txBody>
      </p:sp>
      <p:sp>
        <p:nvSpPr>
          <p:cNvPr id="25" name="Close the documented security gaps Connect mo">
            <a:extLst>
              <a:ext uri="{FF2B5EF4-FFF2-40B4-BE49-F238E27FC236}">
                <a16:creationId xmlns:a16="http://schemas.microsoft.com/office/drawing/2014/main" id="{2DD49049-CB54-41F0-9917-AB60CBFF037F}"/>
              </a:ext>
            </a:extLst>
          </p:cNvPr>
          <p:cNvSpPr>
            <a:spLocks noGrp="1"/>
          </p:cNvSpPr>
          <p:nvPr/>
        </p:nvSpPr>
        <p:spPr>
          <a:xfrm>
            <a:off x="640080" y="3600450"/>
            <a:ext cx="7191375" cy="1219200"/>
          </a:xfrm>
          <a:prstGeom prst="rect">
            <a:avLst/>
          </a:prstGeom>
          <a:noFill/>
          <a:ln w="0">
            <a:noFill/>
          </a:ln>
        </p:spPr>
        <p:txBody>
          <a:bodyPr lIns="0" tIns="0" rIns="0" bIns="0">
            <a:noAutofit/>
          </a:bodyPr>
          <a:lstStyle/>
          <a:p>
            <a:pPr>
              <a:buNone/>
              <a:defRPr sz="1875" b="0">
                <a:solidFill>
                  <a:srgbClr val="4A5A5E"/>
                </a:solidFill>
                <a:latin typeface="Arial"/>
                <a:ea typeface="Arial"/>
                <a:cs typeface="Arial"/>
              </a:defRPr>
            </a:pPr>
            <a:r>
              <a:rPr sz="1875" b="0">
                <a:solidFill>
                  <a:srgbClr val="4A5A5E"/>
                </a:solidFill>
                <a:latin typeface="Arial"/>
                <a:ea typeface="Arial"/>
                <a:cs typeface="Arial"/>
              </a:rPr>
              <a:t>Close the documented security gaps</a:t>
            </a:r>
          </a:p>
          <a:p>
            <a:pPr>
              <a:buNone/>
              <a:defRPr sz="1875" b="0">
                <a:solidFill>
                  <a:srgbClr val="4A5A5E"/>
                </a:solidFill>
                <a:latin typeface="Arial"/>
                <a:ea typeface="Arial"/>
                <a:cs typeface="Arial"/>
              </a:defRPr>
            </a:pPr>
            <a:r>
              <a:rPr sz="1875" b="0">
                <a:solidFill>
                  <a:srgbClr val="4A5A5E"/>
                </a:solidFill>
                <a:latin typeface="Arial"/>
                <a:ea typeface="Arial"/>
                <a:cs typeface="Arial"/>
              </a:rPr>
              <a:t>Connect more agents through a common API</a:t>
            </a:r>
          </a:p>
          <a:p>
            <a:pPr>
              <a:buNone/>
              <a:defRPr sz="1875" b="0">
                <a:solidFill>
                  <a:srgbClr val="4A5A5E"/>
                </a:solidFill>
                <a:latin typeface="Arial"/>
                <a:ea typeface="Arial"/>
                <a:cs typeface="Arial"/>
              </a:defRPr>
            </a:pPr>
            <a:r>
              <a:rPr sz="1875" b="0">
                <a:solidFill>
                  <a:srgbClr val="4A5A5E"/>
                </a:solidFill>
                <a:latin typeface="Arial"/>
                <a:ea typeface="Arial"/>
                <a:cs typeface="Arial"/>
              </a:rPr>
              <a:t>Validate with a team using real review decisions</a:t>
            </a:r>
          </a:p>
        </p:txBody>
      </p:sp>
      <p:sp>
        <p:nvSpPr>
          <p:cNvPr id="26" name="Seeking a pilot team and a Databricks mentor">
            <a:extLst>
              <a:ext uri="{FF2B5EF4-FFF2-40B4-BE49-F238E27FC236}">
                <a16:creationId xmlns:a16="http://schemas.microsoft.com/office/drawing/2014/main" id="{6A37DFFA-D3A7-417C-9CFE-1E17E9E3302D}"/>
              </a:ext>
            </a:extLst>
          </p:cNvPr>
          <p:cNvSpPr>
            <a:spLocks noGrp="1"/>
          </p:cNvSpPr>
          <p:nvPr/>
        </p:nvSpPr>
        <p:spPr>
          <a:xfrm>
            <a:off x="640080" y="5248275"/>
            <a:ext cx="7191375" cy="400050"/>
          </a:xfrm>
          <a:prstGeom prst="rect">
            <a:avLst/>
          </a:prstGeom>
          <a:noFill/>
          <a:ln w="0">
            <a:noFill/>
          </a:ln>
        </p:spPr>
        <p:txBody>
          <a:bodyPr lIns="0" tIns="0" rIns="0" bIns="0">
            <a:noAutofit/>
          </a:bodyPr>
          <a:lstStyle/>
          <a:p>
            <a:pPr>
              <a:buNone/>
              <a:defRPr sz="2100" b="1">
                <a:solidFill>
                  <a:srgbClr val="14232A"/>
                </a:solidFill>
                <a:latin typeface="Arial"/>
                <a:ea typeface="Arial"/>
                <a:cs typeface="Arial"/>
              </a:defRPr>
            </a:pPr>
            <a:r>
              <a:rPr sz="2100" b="1">
                <a:solidFill>
                  <a:srgbClr val="14232A"/>
                </a:solidFill>
                <a:latin typeface="Arial"/>
                <a:ea typeface="Arial"/>
                <a:cs typeface="Arial"/>
              </a:rPr>
              <a:t>Seeking a pilot team and a Databricks mentor</a:t>
            </a:r>
          </a:p>
        </p:txBody>
      </p:sp>
      <p:sp>
        <p:nvSpPr>
          <p:cNvPr id="27" name="Agents earn their freedom with evidence">
            <a:extLst>
              <a:ext uri="{FF2B5EF4-FFF2-40B4-BE49-F238E27FC236}">
                <a16:creationId xmlns:a16="http://schemas.microsoft.com/office/drawing/2014/main" id="{7B0697B3-F5AF-4F0C-B361-6A3A70F58430}"/>
              </a:ext>
            </a:extLst>
          </p:cNvPr>
          <p:cNvSpPr>
            <a:spLocks noGrp="1"/>
          </p:cNvSpPr>
          <p:nvPr/>
        </p:nvSpPr>
        <p:spPr>
          <a:xfrm>
            <a:off x="640080" y="5743575"/>
            <a:ext cx="7191375" cy="304800"/>
          </a:xfrm>
          <a:prstGeom prst="rect">
            <a:avLst/>
          </a:prstGeom>
          <a:noFill/>
          <a:ln w="0">
            <a:noFill/>
          </a:ln>
        </p:spPr>
        <p:txBody>
          <a:bodyPr lIns="0" tIns="0" rIns="0" bIns="0">
            <a:noAutofit/>
          </a:bodyPr>
          <a:lstStyle/>
          <a:p>
            <a:pPr>
              <a:buNone/>
              <a:defRPr sz="1725" b="0">
                <a:solidFill>
                  <a:srgbClr val="3A5BA0"/>
                </a:solidFill>
                <a:latin typeface="Arial"/>
                <a:ea typeface="Arial"/>
                <a:cs typeface="Arial"/>
              </a:defRPr>
            </a:pPr>
            <a:r>
              <a:rPr sz="1725" b="0">
                <a:solidFill>
                  <a:srgbClr val="3A5BA0"/>
                </a:solidFill>
                <a:latin typeface="Arial"/>
                <a:ea typeface="Arial"/>
                <a:cs typeface="Arial"/>
              </a:rPr>
              <a:t>Agents earn their freedom with evidence</a:t>
            </a:r>
          </a:p>
        </p:txBody>
      </p:sp>
      <p:sp>
        <p:nvSpPr>
          <p:cNvPr id="28" name="Code and evidence">
            <a:extLst>
              <a:ext uri="{FF2B5EF4-FFF2-40B4-BE49-F238E27FC236}">
                <a16:creationId xmlns:a16="http://schemas.microsoft.com/office/drawing/2014/main" id="{121BD36E-5434-4411-9655-69CB9ECB59B5}"/>
              </a:ext>
            </a:extLst>
          </p:cNvPr>
          <p:cNvSpPr>
            <a:spLocks noGrp="1"/>
          </p:cNvSpPr>
          <p:nvPr/>
        </p:nvSpPr>
        <p:spPr>
          <a:xfrm>
            <a:off x="8321040" y="4069080"/>
            <a:ext cx="3230594" cy="323850"/>
          </a:xfrm>
          <a:prstGeom prst="rect">
            <a:avLst/>
          </a:prstGeom>
          <a:noFill/>
          <a:ln w="0">
            <a:noFill/>
          </a:ln>
        </p:spPr>
        <p:txBody>
          <a:bodyPr lIns="0" tIns="0" rIns="0" bIns="0">
            <a:noAutofit/>
          </a:bodyPr>
          <a:lstStyle/>
          <a:p>
            <a:pPr algn="ctr">
              <a:buNone/>
              <a:defRPr sz="1875" b="1">
                <a:solidFill>
                  <a:srgbClr val="14232A"/>
                </a:solidFill>
                <a:latin typeface="Arial"/>
                <a:ea typeface="Arial"/>
                <a:cs typeface="Arial"/>
              </a:defRPr>
            </a:pPr>
            <a:r>
              <a:rPr sz="1875" b="1">
                <a:solidFill>
                  <a:srgbClr val="14232A"/>
                </a:solidFill>
                <a:latin typeface="Arial"/>
                <a:ea typeface="Arial"/>
                <a:cs typeface="Arial"/>
              </a:rPr>
              <a:t>Code and evidence</a:t>
            </a:r>
          </a:p>
        </p:txBody>
      </p:sp>
      <p:sp>
        <p:nvSpPr>
          <p:cNvPr id="29" name="github.com/Ananda-001/Badger-Build-Fest">
            <a:extLst>
              <a:ext uri="{FF2B5EF4-FFF2-40B4-BE49-F238E27FC236}">
                <a16:creationId xmlns:a16="http://schemas.microsoft.com/office/drawing/2014/main" id="{64114908-A69F-4E69-AE9F-24026D1193A0}"/>
              </a:ext>
            </a:extLst>
          </p:cNvPr>
          <p:cNvSpPr>
            <a:spLocks noGrp="1"/>
          </p:cNvSpPr>
          <p:nvPr/>
        </p:nvSpPr>
        <p:spPr>
          <a:xfrm>
            <a:off x="8321040" y="4467225"/>
            <a:ext cx="3230594" cy="476250"/>
          </a:xfrm>
          <a:prstGeom prst="rect">
            <a:avLst/>
          </a:prstGeom>
          <a:noFill/>
          <a:ln w="0">
            <a:noFill/>
          </a:ln>
        </p:spPr>
        <p:txBody>
          <a:bodyPr lIns="0" tIns="0" rIns="0" bIns="0">
            <a:noAutofit/>
          </a:bodyPr>
          <a:lstStyle/>
          <a:p>
            <a:pPr algn="ctr">
              <a:buNone/>
              <a:defRPr sz="1275" b="0">
                <a:solidFill>
                  <a:srgbClr val="4A5A5E"/>
                </a:solidFill>
                <a:latin typeface="Arial"/>
                <a:ea typeface="Arial"/>
                <a:cs typeface="Arial"/>
              </a:defRPr>
            </a:pPr>
            <a:r>
              <a:rPr>
                <a:hlinkClick r:id="rId4"/>
              </a:rPr>
              <a:t>github.com/Ananda-001/Badger-Build-Fest</a:t>
            </a:r>
          </a:p>
        </p:txBody>
      </p:sp>
      <p:sp>
        <p:nvSpPr>
          <p:cNvPr id="30" name="Assay · Badger BuildFest 2026 · 7">
            <a:extLst>
              <a:ext uri="{FF2B5EF4-FFF2-40B4-BE49-F238E27FC236}">
                <a16:creationId xmlns:a16="http://schemas.microsoft.com/office/drawing/2014/main" id="{0A021F88-4F4A-4D75-AC94-F37B98990323}"/>
              </a:ext>
            </a:extLst>
          </p:cNvPr>
          <p:cNvSpPr>
            <a:spLocks noGrp="1"/>
          </p:cNvSpPr>
          <p:nvPr/>
        </p:nvSpPr>
        <p:spPr>
          <a:xfrm>
            <a:off x="640080" y="6355080"/>
            <a:ext cx="10911554" cy="274320"/>
          </a:xfrm>
          <a:prstGeom prst="rect">
            <a:avLst/>
          </a:prstGeom>
          <a:noFill/>
          <a:ln w="0">
            <a:noFill/>
          </a:ln>
        </p:spPr>
        <p:txBody>
          <a:bodyPr lIns="0" tIns="0" rIns="0" bIns="0">
            <a:noAutofit/>
          </a:bodyPr>
          <a:lstStyle/>
          <a:p>
            <a:pPr>
              <a:buNone/>
              <a:defRPr sz="1050" b="0">
                <a:solidFill>
                  <a:srgbClr val="4A5A5E"/>
                </a:solidFill>
                <a:latin typeface="Arial"/>
                <a:ea typeface="Arial"/>
                <a:cs typeface="Arial"/>
              </a:defRPr>
            </a:pPr>
            <a:r>
              <a:rPr sz="1050" b="0">
                <a:solidFill>
                  <a:srgbClr val="4A5A5E"/>
                </a:solidFill>
                <a:latin typeface="Arial"/>
                <a:ea typeface="Arial"/>
                <a:cs typeface="Arial"/>
              </a:rPr>
              <a:t>Assay · Badger BuildFest 2026 · 7</a:t>
            </a:r>
          </a:p>
        </p:txBody>
      </p:sp>
    </p:spTree>
    <p:extLst>
      <p:ext uri="{BB962C8B-B14F-4D97-AF65-F5344CB8AC3E}">
        <p14:creationId xmlns:p14="http://schemas.microsoft.com/office/powerpoint/2010/main" val="1543997009"/>
      </p:ext>
    </p:extLst>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1364</Words>
  <Application>Microsoft Office PowerPoint</Application>
  <DocSecurity>0</DocSecurity>
  <PresentationFormat>Widescreen</PresentationFormat>
  <Paragraphs>71</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Mohith NIKESH</cp:lastModifiedBy>
  <cp:revision>1</cp:revision>
  <dcterms:created xsi:type="dcterms:W3CDTF">2026-09-27T12:19:25Z</dcterms:created>
  <dcterms:modified xsi:type="dcterms:W3CDTF">2026-09-27T12:23:02Z</dcterms:modified>
</cp:coreProperties>
</file>